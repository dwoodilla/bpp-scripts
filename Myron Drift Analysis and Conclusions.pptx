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4" r:id="rId9"/>
    <p:sldId id="265" r:id="rId10"/>
    <p:sldId id="267" r:id="rId11"/>
    <p:sldId id="263" r:id="rId12"/>
    <p:sldId id="269" r:id="rId13"/>
    <p:sldId id="270" r:id="rId14"/>
    <p:sldId id="271" r:id="rId15"/>
    <p:sldId id="268" r:id="rId16"/>
    <p:sldId id="272" r:id="rId17"/>
    <p:sldId id="273" r:id="rId18"/>
    <p:sldId id="274" r:id="rId19"/>
    <p:sldId id="275" r:id="rId20"/>
    <p:sldId id="276" r:id="rId21"/>
    <p:sldId id="278" r:id="rId22"/>
    <p:sldId id="277" r:id="rId2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710"/>
  </p:normalViewPr>
  <p:slideViewPr>
    <p:cSldViewPr snapToGrid="0">
      <p:cViewPr varScale="1">
        <p:scale>
          <a:sx n="193" d="100"/>
          <a:sy n="193" d="100"/>
        </p:scale>
        <p:origin x="208"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47.704"/>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49.51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52.959"/>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54.61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56.485"/>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58.158"/>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0:58.923"/>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01.352"/>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05.05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06.685"/>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1,'6'20,"-3"-4,-1-5,1-2,-2-3,1-1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08.094"/>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09.916"/>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1,'0'0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11.596"/>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1,'0'0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13.472"/>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1 1,'0'0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16.539"/>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0,'0'0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18.008"/>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19.230"/>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0,'0'0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7-22T14:31:20.874"/>
    </inkml:context>
    <inkml:brush xml:id="br0">
      <inkml:brushProperty name="width" value="0.1" units="cm"/>
      <inkml:brushProperty name="height" value="0.2" units="cm"/>
      <inkml:brushProperty name="color" value="#FF2500"/>
      <inkml:brushProperty name="tip" value="rectangle"/>
      <inkml:brushProperty name="rasterOp" value="maskPen"/>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634f9819c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634f9819c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44e803502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44e803502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44e803502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44e80350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ubs.acs.org/doi/10.1021/acs.est.4c08855"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pubs.acs.org/doi/10.1021/acssensors.5c00566"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doi.org/10.1016/j.snb.2020.127869"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customXml" Target="../ink/ink10.xml"/><Relationship Id="rId18" Type="http://schemas.openxmlformats.org/officeDocument/2006/relationships/customXml" Target="../ink/ink14.xml"/><Relationship Id="rId3" Type="http://schemas.openxmlformats.org/officeDocument/2006/relationships/customXml" Target="../ink/ink1.xml"/><Relationship Id="rId21" Type="http://schemas.openxmlformats.org/officeDocument/2006/relationships/customXml" Target="../ink/ink17.xml"/><Relationship Id="rId7" Type="http://schemas.openxmlformats.org/officeDocument/2006/relationships/customXml" Target="../ink/ink4.xml"/><Relationship Id="rId12" Type="http://schemas.openxmlformats.org/officeDocument/2006/relationships/customXml" Target="../ink/ink9.xml"/><Relationship Id="rId17" Type="http://schemas.openxmlformats.org/officeDocument/2006/relationships/customXml" Target="../ink/ink13.xml"/><Relationship Id="rId2" Type="http://schemas.openxmlformats.org/officeDocument/2006/relationships/image" Target="../media/image19.png"/><Relationship Id="rId16" Type="http://schemas.openxmlformats.org/officeDocument/2006/relationships/customXml" Target="../ink/ink12.xml"/><Relationship Id="rId20" Type="http://schemas.openxmlformats.org/officeDocument/2006/relationships/customXml" Target="../ink/ink16.xml"/><Relationship Id="rId1" Type="http://schemas.openxmlformats.org/officeDocument/2006/relationships/slideLayout" Target="../slideLayouts/slideLayout3.xml"/><Relationship Id="rId6" Type="http://schemas.openxmlformats.org/officeDocument/2006/relationships/customXml" Target="../ink/ink3.xml"/><Relationship Id="rId11" Type="http://schemas.openxmlformats.org/officeDocument/2006/relationships/customXml" Target="../ink/ink8.xml"/><Relationship Id="rId5" Type="http://schemas.openxmlformats.org/officeDocument/2006/relationships/customXml" Target="../ink/ink2.xml"/><Relationship Id="rId15" Type="http://schemas.openxmlformats.org/officeDocument/2006/relationships/customXml" Target="../ink/ink11.xml"/><Relationship Id="rId10" Type="http://schemas.openxmlformats.org/officeDocument/2006/relationships/customXml" Target="../ink/ink7.xml"/><Relationship Id="rId19" Type="http://schemas.openxmlformats.org/officeDocument/2006/relationships/customXml" Target="../ink/ink15.xml"/><Relationship Id="rId4" Type="http://schemas.openxmlformats.org/officeDocument/2006/relationships/image" Target="../media/image20.png"/><Relationship Id="rId9" Type="http://schemas.openxmlformats.org/officeDocument/2006/relationships/customXml" Target="../ink/ink6.xml"/><Relationship Id="rId14" Type="http://schemas.openxmlformats.org/officeDocument/2006/relationships/image" Target="../media/image21.png"/><Relationship Id="rId22" Type="http://schemas.openxmlformats.org/officeDocument/2006/relationships/customXml" Target="../ink/ink18.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0"/>
            <a:ext cx="8520600" cy="10119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Experiment Framework </a:t>
            </a:r>
            <a:br>
              <a:rPr lang="en"/>
            </a:br>
            <a:r>
              <a:rPr lang="en"/>
              <a:t>(Assumes background on BPP network)</a:t>
            </a:r>
            <a:endParaRPr/>
          </a:p>
        </p:txBody>
      </p:sp>
      <p:sp>
        <p:nvSpPr>
          <p:cNvPr id="55" name="Google Shape;55;p13"/>
          <p:cNvSpPr txBox="1">
            <a:spLocks noGrp="1"/>
          </p:cNvSpPr>
          <p:nvPr>
            <p:ph type="body" idx="1"/>
          </p:nvPr>
        </p:nvSpPr>
        <p:spPr>
          <a:xfrm>
            <a:off x="311700" y="1152475"/>
            <a:ext cx="8520600" cy="37860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Low-Cost electrochemical gas sensors are not robust against drift and cross-sensitivity; they require frequent calibration and degradation monitoring. Lab calibration is not effective or practical [cite].</a:t>
            </a:r>
            <a:endParaRPr/>
          </a:p>
          <a:p>
            <a:pPr marL="457200" lvl="0" indent="-342900" algn="l" rtl="0">
              <a:spcBef>
                <a:spcPts val="0"/>
              </a:spcBef>
              <a:spcAft>
                <a:spcPts val="0"/>
              </a:spcAft>
              <a:buSzPts val="1800"/>
              <a:buChar char="●"/>
            </a:pPr>
            <a:r>
              <a:rPr lang="en"/>
              <a:t>Winter et. al. </a:t>
            </a:r>
            <a:r>
              <a:rPr lang="en" u="sng">
                <a:solidFill>
                  <a:schemeClr val="accent5"/>
                </a:solidFill>
                <a:hlinkClick r:id="rId3">
                  <a:extLst>
                    <a:ext uri="{A12FA001-AC4F-418D-AE19-62706E023703}">
                      <ahyp:hlinkClr xmlns:ahyp="http://schemas.microsoft.com/office/drawing/2018/hyperlinkcolor" val="tx"/>
                    </a:ext>
                  </a:extLst>
                </a:hlinkClick>
              </a:rPr>
              <a:t>here</a:t>
            </a:r>
            <a:r>
              <a:rPr lang="en"/>
              <a:t> describe distributed calibration procedure that is shown to be effective in the short-term.</a:t>
            </a:r>
            <a:endParaRPr/>
          </a:p>
          <a:p>
            <a:pPr marL="457200" lvl="0" indent="-342900" algn="l" rtl="0">
              <a:spcBef>
                <a:spcPts val="0"/>
              </a:spcBef>
              <a:spcAft>
                <a:spcPts val="0"/>
              </a:spcAft>
              <a:buSzPts val="1800"/>
              <a:buChar char="●"/>
            </a:pPr>
            <a:r>
              <a:rPr lang="en"/>
              <a:t>Same authors </a:t>
            </a:r>
            <a:r>
              <a:rPr lang="en" u="sng">
                <a:solidFill>
                  <a:schemeClr val="hlink"/>
                </a:solidFill>
                <a:hlinkClick r:id="rId4"/>
              </a:rPr>
              <a:t>here</a:t>
            </a:r>
            <a:r>
              <a:rPr lang="en"/>
              <a:t> describe an effective method for characterizing sensor drift and degradation in long-term deployments.</a:t>
            </a:r>
            <a:endParaRPr/>
          </a:p>
          <a:p>
            <a:pPr marL="457200" lvl="0" indent="-342900" algn="l" rtl="0">
              <a:spcBef>
                <a:spcPts val="0"/>
              </a:spcBef>
              <a:spcAft>
                <a:spcPts val="0"/>
              </a:spcAft>
              <a:buSzPts val="1800"/>
              <a:buChar char="●"/>
            </a:pPr>
            <a:r>
              <a:rPr lang="en"/>
              <a:t>BPP’s network is constrained by a lack of reference sensors (one to two active across the lifetime of the network). </a:t>
            </a:r>
            <a:endParaRPr/>
          </a:p>
          <a:p>
            <a:pPr marL="457200" lvl="0" indent="-342900" algn="l" rtl="0">
              <a:spcBef>
                <a:spcPts val="0"/>
              </a:spcBef>
              <a:spcAft>
                <a:spcPts val="0"/>
              </a:spcAft>
              <a:buSzPts val="1800"/>
              <a:buChar char="●"/>
            </a:pPr>
            <a:r>
              <a:rPr lang="en"/>
              <a:t>Under this constraint, this project builds on the Winter et. al. drift characterization framework by comparing current sensor data with past data from the same sensor and measuring trends in distribution divergence.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Winter et. al. Drift Characterization Framework</a:t>
            </a:r>
            <a:endParaRPr/>
          </a:p>
        </p:txBody>
      </p:sp>
      <p:sp>
        <p:nvSpPr>
          <p:cNvPr id="61" name="Google Shape;61;p14"/>
          <p:cNvSpPr txBox="1">
            <a:spLocks noGrp="1"/>
          </p:cNvSpPr>
          <p:nvPr>
            <p:ph type="body" idx="1"/>
          </p:nvPr>
        </p:nvSpPr>
        <p:spPr>
          <a:xfrm>
            <a:off x="311700" y="572700"/>
            <a:ext cx="4260300" cy="4354200"/>
          </a:xfrm>
          <a:prstGeom prst="rect">
            <a:avLst/>
          </a:prstGeom>
        </p:spPr>
        <p:txBody>
          <a:bodyPr spcFirstLastPara="1" wrap="square" lIns="91425" tIns="91425" rIns="91425" bIns="91425" anchor="t" anchorCtr="0">
            <a:normAutofit fontScale="85000" lnSpcReduction="10000"/>
          </a:bodyPr>
          <a:lstStyle/>
          <a:p>
            <a:pPr marL="171450" lvl="0" indent="-211455" algn="l" rtl="0">
              <a:spcBef>
                <a:spcPts val="0"/>
              </a:spcBef>
              <a:spcAft>
                <a:spcPts val="0"/>
              </a:spcAft>
              <a:buSzPct val="100000"/>
              <a:buChar char="●"/>
            </a:pPr>
            <a:r>
              <a:rPr lang="en"/>
              <a:t>Authors cite that short-term calibration is well-studied but does not lend insight to sensor performance across years or seasons. Understanding LCS degradation is important for data quality assurance.</a:t>
            </a:r>
            <a:endParaRPr/>
          </a:p>
          <a:p>
            <a:pPr marL="171450" lvl="0" indent="-211455" algn="l" rtl="0">
              <a:spcBef>
                <a:spcPts val="0"/>
              </a:spcBef>
              <a:spcAft>
                <a:spcPts val="0"/>
              </a:spcAft>
              <a:buSzPct val="100000"/>
              <a:buChar char="●"/>
            </a:pPr>
            <a:r>
              <a:rPr lang="en"/>
              <a:t>Authors compare the simultaneous sensor output of a representative BEACO2N sensor with a collocated reference-grade air quality monitor at San Pablo. This site was chosen because the BEACO2N sensor at that site was the longest-operating and longest-collocated sensor in that network.</a:t>
            </a:r>
            <a:endParaRPr/>
          </a:p>
          <a:p>
            <a:pPr marL="171450" lvl="0" indent="-211455" algn="l" rtl="0">
              <a:spcBef>
                <a:spcPts val="0"/>
              </a:spcBef>
              <a:spcAft>
                <a:spcPts val="0"/>
              </a:spcAft>
              <a:buSzPct val="100000"/>
              <a:buChar char="●"/>
            </a:pPr>
            <a:r>
              <a:rPr lang="en"/>
              <a:t>Authors examine residual trendlines at 1, 12, 24, and 36 months after deployment (6, 18, 30 mos for CO) and report regression statistics. </a:t>
            </a:r>
            <a:endParaRPr/>
          </a:p>
        </p:txBody>
      </p:sp>
      <p:pic>
        <p:nvPicPr>
          <p:cNvPr id="62" name="Google Shape;62;p14"/>
          <p:cNvPicPr preferRelativeResize="0"/>
          <p:nvPr/>
        </p:nvPicPr>
        <p:blipFill>
          <a:blip r:embed="rId3">
            <a:alphaModFix/>
          </a:blip>
          <a:stretch>
            <a:fillRect/>
          </a:stretch>
        </p:blipFill>
        <p:spPr>
          <a:xfrm>
            <a:off x="4876800" y="680223"/>
            <a:ext cx="4267200" cy="3372224"/>
          </a:xfrm>
          <a:prstGeom prst="rect">
            <a:avLst/>
          </a:prstGeom>
          <a:noFill/>
          <a:ln>
            <a:noFill/>
          </a:ln>
        </p:spPr>
      </p:pic>
      <p:pic>
        <p:nvPicPr>
          <p:cNvPr id="63" name="Google Shape;63;p14"/>
          <p:cNvPicPr preferRelativeResize="0"/>
          <p:nvPr/>
        </p:nvPicPr>
        <p:blipFill>
          <a:blip r:embed="rId4">
            <a:alphaModFix/>
          </a:blip>
          <a:stretch>
            <a:fillRect/>
          </a:stretch>
        </p:blipFill>
        <p:spPr>
          <a:xfrm>
            <a:off x="4880250" y="4052441"/>
            <a:ext cx="4260301" cy="10098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Breathe Providence Network Constraints</a:t>
            </a:r>
            <a:endParaRPr/>
          </a:p>
        </p:txBody>
      </p:sp>
      <p:sp>
        <p:nvSpPr>
          <p:cNvPr id="69" name="Google Shape;69;p15"/>
          <p:cNvSpPr txBox="1">
            <a:spLocks noGrp="1"/>
          </p:cNvSpPr>
          <p:nvPr>
            <p:ph type="body" idx="1"/>
          </p:nvPr>
        </p:nvSpPr>
        <p:spPr>
          <a:xfrm>
            <a:off x="311700" y="572700"/>
            <a:ext cx="5535000" cy="4354200"/>
          </a:xfrm>
          <a:prstGeom prst="rect">
            <a:avLst/>
          </a:prstGeom>
        </p:spPr>
        <p:txBody>
          <a:bodyPr spcFirstLastPara="1" wrap="square" lIns="91425" tIns="91425" rIns="91425" bIns="91425" anchor="t" anchorCtr="0">
            <a:normAutofit/>
          </a:bodyPr>
          <a:lstStyle/>
          <a:p>
            <a:pPr marL="171450" lvl="0" indent="-228600" algn="l" rtl="0">
              <a:spcBef>
                <a:spcPts val="0"/>
              </a:spcBef>
              <a:spcAft>
                <a:spcPts val="0"/>
              </a:spcAft>
              <a:buSzPts val="1800"/>
              <a:buChar char="●"/>
            </a:pPr>
            <a:r>
              <a:rPr lang="en" dirty="0"/>
              <a:t>The Winter framework is reliant on continuous reference data for the lifetime of the sensor to compare a residual trendline. Currently Providence County has one operative reference sensor in Cranston, RI and no sensors with a continuous stream of collocated reference data. </a:t>
            </a:r>
            <a:endParaRPr dirty="0"/>
          </a:p>
          <a:p>
            <a:pPr marL="171450" lvl="0" indent="-228600" algn="l" rtl="0">
              <a:spcBef>
                <a:spcPts val="0"/>
              </a:spcBef>
              <a:spcAft>
                <a:spcPts val="0"/>
              </a:spcAft>
              <a:buSzPts val="1800"/>
              <a:buChar char="●"/>
            </a:pPr>
            <a:r>
              <a:rPr lang="en" dirty="0"/>
              <a:t>This leaves other low cost sensors as the only source for distributed data collection, however these are the sensors whose reliability we are trying to characterize.</a:t>
            </a:r>
          </a:p>
          <a:p>
            <a:pPr marL="628650" lvl="1" indent="-228600">
              <a:buSzPts val="1800"/>
              <a:buChar char="●"/>
            </a:pPr>
            <a:r>
              <a:rPr lang="en" dirty="0"/>
              <a:t>Additionally if we want to measure degradation compared to self, we cannot expect a one-to-one residual correlation for a given month over time.</a:t>
            </a:r>
            <a:endParaRPr dirty="0"/>
          </a:p>
        </p:txBody>
      </p:sp>
      <p:pic>
        <p:nvPicPr>
          <p:cNvPr id="3" name="Google Shape;66;p14">
            <a:extLst>
              <a:ext uri="{FF2B5EF4-FFF2-40B4-BE49-F238E27FC236}">
                <a16:creationId xmlns:a16="http://schemas.microsoft.com/office/drawing/2014/main" id="{8F4BF9F7-BF4F-1D89-155A-0CC9D3A069AA}"/>
              </a:ext>
            </a:extLst>
          </p:cNvPr>
          <p:cNvPicPr preferRelativeResize="0"/>
          <p:nvPr/>
        </p:nvPicPr>
        <p:blipFill rotWithShape="1">
          <a:blip r:embed="rId3">
            <a:alphaModFix/>
          </a:blip>
          <a:srcRect/>
          <a:stretch/>
        </p:blipFill>
        <p:spPr>
          <a:xfrm>
            <a:off x="5846700" y="572700"/>
            <a:ext cx="3239674" cy="41913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Methods</a:t>
            </a:r>
            <a:endParaRPr dirty="0"/>
          </a:p>
        </p:txBody>
      </p:sp>
      <p:sp>
        <p:nvSpPr>
          <p:cNvPr id="76" name="Google Shape;76;p16"/>
          <p:cNvSpPr txBox="1">
            <a:spLocks noGrp="1"/>
          </p:cNvSpPr>
          <p:nvPr>
            <p:ph type="body" idx="1"/>
          </p:nvPr>
        </p:nvSpPr>
        <p:spPr>
          <a:xfrm>
            <a:off x="311700" y="572700"/>
            <a:ext cx="5341677" cy="4285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dirty="0"/>
              <a:t>Sensor degradation should be indicated by a change in the bias or variance of a sensor reading over time compared to reference. </a:t>
            </a:r>
            <a:endParaRPr dirty="0"/>
          </a:p>
          <a:p>
            <a:pPr marL="457200" lvl="0" indent="-342900" algn="l" rtl="0">
              <a:spcBef>
                <a:spcPts val="0"/>
              </a:spcBef>
              <a:spcAft>
                <a:spcPts val="0"/>
              </a:spcAft>
              <a:buSzPts val="1800"/>
              <a:buChar char="●"/>
            </a:pPr>
            <a:r>
              <a:rPr lang="en" dirty="0"/>
              <a:t>We can assume that the sensor most closely mirrored reference data during its first year of deployment, and that the distribution of pollutant per month does not significantly change.</a:t>
            </a:r>
            <a:endParaRPr dirty="0"/>
          </a:p>
          <a:p>
            <a:pPr marL="457200" lvl="0" indent="-342900" algn="l" rtl="0">
              <a:spcBef>
                <a:spcPts val="0"/>
              </a:spcBef>
              <a:spcAft>
                <a:spcPts val="0"/>
              </a:spcAft>
              <a:buSzPts val="1800"/>
              <a:buChar char="●"/>
            </a:pPr>
            <a:r>
              <a:rPr lang="en" dirty="0"/>
              <a:t>We can compare a sensor’s distribution of readings at a given month with its distribution at that same month during its first year of deployment. </a:t>
            </a:r>
            <a:endParaRPr dirty="0"/>
          </a:p>
        </p:txBody>
      </p:sp>
      <p:pic>
        <p:nvPicPr>
          <p:cNvPr id="4" name="Picture 3">
            <a:extLst>
              <a:ext uri="{FF2B5EF4-FFF2-40B4-BE49-F238E27FC236}">
                <a16:creationId xmlns:a16="http://schemas.microsoft.com/office/drawing/2014/main" id="{49B0FB8C-9A92-BF83-0466-AAD29F14893B}"/>
              </a:ext>
            </a:extLst>
          </p:cNvPr>
          <p:cNvPicPr>
            <a:picLocks noChangeAspect="1"/>
          </p:cNvPicPr>
          <p:nvPr/>
        </p:nvPicPr>
        <p:blipFill>
          <a:blip r:embed="rId3"/>
          <a:stretch>
            <a:fillRect/>
          </a:stretch>
        </p:blipFill>
        <p:spPr>
          <a:xfrm>
            <a:off x="5648602" y="572700"/>
            <a:ext cx="3188473" cy="41262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1E12A-748D-74DD-5C2A-81437B19DD56}"/>
              </a:ext>
            </a:extLst>
          </p:cNvPr>
          <p:cNvSpPr>
            <a:spLocks noGrp="1"/>
          </p:cNvSpPr>
          <p:nvPr>
            <p:ph type="title"/>
          </p:nvPr>
        </p:nvSpPr>
        <p:spPr/>
        <p:txBody>
          <a:bodyPr>
            <a:normAutofit fontScale="90000"/>
          </a:bodyPr>
          <a:lstStyle/>
          <a:p>
            <a:r>
              <a:rPr lang="en-US" dirty="0"/>
              <a:t>Methods: Quantifying Drift</a:t>
            </a:r>
          </a:p>
        </p:txBody>
      </p:sp>
      <p:sp>
        <p:nvSpPr>
          <p:cNvPr id="3" name="Text Placeholder 2">
            <a:extLst>
              <a:ext uri="{FF2B5EF4-FFF2-40B4-BE49-F238E27FC236}">
                <a16:creationId xmlns:a16="http://schemas.microsoft.com/office/drawing/2014/main" id="{8FD1614D-77D3-31E6-7B01-860B5E19D92A}"/>
              </a:ext>
            </a:extLst>
          </p:cNvPr>
          <p:cNvSpPr>
            <a:spLocks noGrp="1"/>
          </p:cNvSpPr>
          <p:nvPr>
            <p:ph type="body" idx="1"/>
          </p:nvPr>
        </p:nvSpPr>
        <p:spPr>
          <a:xfrm>
            <a:off x="311700" y="1152475"/>
            <a:ext cx="4904356" cy="3416400"/>
          </a:xfrm>
        </p:spPr>
        <p:txBody>
          <a:bodyPr>
            <a:normAutofit fontScale="85000" lnSpcReduction="20000"/>
          </a:bodyPr>
          <a:lstStyle/>
          <a:p>
            <a:pPr fontAlgn="base"/>
            <a:r>
              <a:rPr lang="en-US" dirty="0"/>
              <a:t>F-divergences are a family of functions that measure similarity between two probability density functions (i.e. distributions)</a:t>
            </a:r>
          </a:p>
          <a:p>
            <a:pPr fontAlgn="base"/>
            <a:r>
              <a:rPr lang="en-US" dirty="0"/>
              <a:t>Kullback-Liebler divergence:</a:t>
            </a:r>
          </a:p>
          <a:p>
            <a:pPr lvl="1" fontAlgn="base"/>
            <a:r>
              <a:rPr lang="en-US" dirty="0"/>
              <a:t>Measures the “divergence of P from Q”, interpreted as the information lost by using P to approximate Q. </a:t>
            </a:r>
          </a:p>
          <a:p>
            <a:pPr lvl="1" fontAlgn="base"/>
            <a:r>
              <a:rPr lang="en-US" dirty="0"/>
              <a:t>Measured in </a:t>
            </a:r>
            <a:r>
              <a:rPr lang="en-US" i="1" dirty="0"/>
              <a:t>natural units of information</a:t>
            </a:r>
            <a:r>
              <a:rPr lang="en-US" dirty="0"/>
              <a:t> (</a:t>
            </a:r>
            <a:r>
              <a:rPr lang="en-US" i="1" dirty="0" err="1"/>
              <a:t>nats</a:t>
            </a:r>
            <a:r>
              <a:rPr lang="en-US" dirty="0"/>
              <a:t>).</a:t>
            </a:r>
          </a:p>
          <a:p>
            <a:pPr fontAlgn="base"/>
            <a:r>
              <a:rPr lang="en-US" dirty="0"/>
              <a:t>Hellinger Distance:</a:t>
            </a:r>
          </a:p>
          <a:p>
            <a:pPr lvl="1" fontAlgn="base"/>
            <a:r>
              <a:rPr lang="en-US" dirty="0"/>
              <a:t>Metric bounded between 0 and 1.</a:t>
            </a:r>
          </a:p>
          <a:p>
            <a:pPr lvl="1" fontAlgn="base"/>
            <a:r>
              <a:rPr lang="en-US" dirty="0"/>
              <a:t>Describes a formal similarity “distance” between distributions, with 1 being most dissimilar.</a:t>
            </a:r>
          </a:p>
          <a:p>
            <a:pPr lvl="1" fontAlgn="base"/>
            <a:r>
              <a:rPr lang="en-US" dirty="0"/>
              <a:t>Related to the amount of area overlap between two distributions.</a:t>
            </a:r>
          </a:p>
          <a:p>
            <a:pPr fontAlgn="base"/>
            <a:r>
              <a:rPr lang="en-US" dirty="0"/>
              <a:t>Euclidean Distance:</a:t>
            </a:r>
          </a:p>
          <a:p>
            <a:pPr lvl="1" fontAlgn="base"/>
            <a:r>
              <a:rPr lang="en-US" dirty="0"/>
              <a:t>Integral of the length of a line from P(x) to Q(x) at all points x.</a:t>
            </a:r>
          </a:p>
          <a:p>
            <a:endParaRPr lang="en-US" dirty="0"/>
          </a:p>
        </p:txBody>
      </p:sp>
      <p:sp>
        <p:nvSpPr>
          <p:cNvPr id="4" name="Google Shape;55;p13">
            <a:extLst>
              <a:ext uri="{FF2B5EF4-FFF2-40B4-BE49-F238E27FC236}">
                <a16:creationId xmlns:a16="http://schemas.microsoft.com/office/drawing/2014/main" id="{BF5B1748-9194-D0C3-D1D2-E4E083135D5E}"/>
              </a:ext>
            </a:extLst>
          </p:cNvPr>
          <p:cNvSpPr txBox="1">
            <a:spLocks/>
          </p:cNvSpPr>
          <p:nvPr/>
        </p:nvSpPr>
        <p:spPr>
          <a:xfrm>
            <a:off x="5144100" y="4124875"/>
            <a:ext cx="3999900" cy="1147200"/>
          </a:xfrm>
          <a:prstGeom prst="rect">
            <a:avLst/>
          </a:prstGeom>
          <a:noFill/>
          <a:ln>
            <a:noFill/>
          </a:ln>
        </p:spPr>
        <p:txBody>
          <a:bodyPr spcFirstLastPara="1" wrap="square" lIns="91425" tIns="91425" rIns="91425" bIns="91425" anchor="t" anchorCtr="0">
            <a:normAutofit fontScale="400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pPr>
            <a:r>
              <a:rPr lang="en-US" b="1"/>
              <a:t>Integrand values</a:t>
            </a:r>
            <a:r>
              <a:rPr lang="en-US"/>
              <a:t> of different f-divergences, scaled and biased for interpretability. </a:t>
            </a:r>
          </a:p>
          <a:p>
            <a:pPr marL="228600" indent="-228600">
              <a:buFont typeface="Arial"/>
              <a:buNone/>
            </a:pPr>
            <a:r>
              <a:rPr lang="en-US"/>
              <a:t>Source: Saverio De Vito, Elena Esposito, Nuria Castell, Philipp Schneider, A. Bartonova, On the robustness of field calibration for smart air quality monitors, Sensors and Actuators B: Chemical, Volume 310, 2020, 127869, ISSN 0925-4005, </a:t>
            </a:r>
            <a:r>
              <a:rPr lang="en-US" u="sng">
                <a:solidFill>
                  <a:schemeClr val="hlink"/>
                </a:solidFill>
                <a:hlinkClick r:id="rId2"/>
              </a:rPr>
              <a:t>https://doi.org/10.1016/j.snb.2020.127869</a:t>
            </a:r>
            <a:r>
              <a:rPr lang="en-US"/>
              <a:t>. (https://www.sciencedirect.com/science/article/pii/S0925400520302161)</a:t>
            </a:r>
            <a:endParaRPr lang="en-US" dirty="0"/>
          </a:p>
        </p:txBody>
      </p:sp>
      <p:pic>
        <p:nvPicPr>
          <p:cNvPr id="1026" name="Picture 2">
            <a:extLst>
              <a:ext uri="{FF2B5EF4-FFF2-40B4-BE49-F238E27FC236}">
                <a16:creationId xmlns:a16="http://schemas.microsoft.com/office/drawing/2014/main" id="{16CE35B3-D19C-40A0-F892-DA9786BDB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6056" y="1017725"/>
            <a:ext cx="3625594" cy="297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0153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6C2C2-5C07-A238-B348-CF8727520A28}"/>
              </a:ext>
            </a:extLst>
          </p:cNvPr>
          <p:cNvSpPr>
            <a:spLocks noGrp="1"/>
          </p:cNvSpPr>
          <p:nvPr>
            <p:ph type="title"/>
          </p:nvPr>
        </p:nvSpPr>
        <p:spPr/>
        <p:txBody>
          <a:bodyPr>
            <a:normAutofit fontScale="90000"/>
          </a:bodyPr>
          <a:lstStyle/>
          <a:p>
            <a:r>
              <a:rPr lang="en-US" dirty="0"/>
              <a:t>Myron as Control Experiment</a:t>
            </a:r>
          </a:p>
        </p:txBody>
      </p:sp>
      <p:sp>
        <p:nvSpPr>
          <p:cNvPr id="3" name="Text Placeholder 2">
            <a:extLst>
              <a:ext uri="{FF2B5EF4-FFF2-40B4-BE49-F238E27FC236}">
                <a16:creationId xmlns:a16="http://schemas.microsoft.com/office/drawing/2014/main" id="{2A7943DE-93AB-71E3-5EFA-E68DC6E977C6}"/>
              </a:ext>
            </a:extLst>
          </p:cNvPr>
          <p:cNvSpPr>
            <a:spLocks noGrp="1"/>
          </p:cNvSpPr>
          <p:nvPr>
            <p:ph type="body" idx="1"/>
          </p:nvPr>
        </p:nvSpPr>
        <p:spPr>
          <a:xfrm>
            <a:off x="311700" y="1152475"/>
            <a:ext cx="4260300" cy="3416400"/>
          </a:xfrm>
        </p:spPr>
        <p:txBody>
          <a:bodyPr/>
          <a:lstStyle/>
          <a:p>
            <a:r>
              <a:rPr lang="en-US" dirty="0"/>
              <a:t>Myron J. Francis has the longest collocation period with a reference sensor.</a:t>
            </a:r>
          </a:p>
          <a:p>
            <a:r>
              <a:rPr lang="en-US" dirty="0"/>
              <a:t>Can apply Winter framework and self-degradation framework as control.</a:t>
            </a:r>
          </a:p>
          <a:p>
            <a:r>
              <a:rPr lang="en-US" dirty="0"/>
              <a:t>Then extend self-degradation framework to sites without RIDEM reference data.</a:t>
            </a:r>
          </a:p>
        </p:txBody>
      </p:sp>
    </p:spTree>
    <p:extLst>
      <p:ext uri="{BB962C8B-B14F-4D97-AF65-F5344CB8AC3E}">
        <p14:creationId xmlns:p14="http://schemas.microsoft.com/office/powerpoint/2010/main" val="2066665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3F38D-1BFB-C1C3-559A-DBB63B7D4C25}"/>
              </a:ext>
            </a:extLst>
          </p:cNvPr>
          <p:cNvSpPr>
            <a:spLocks noGrp="1"/>
          </p:cNvSpPr>
          <p:nvPr>
            <p:ph type="title"/>
          </p:nvPr>
        </p:nvSpPr>
        <p:spPr>
          <a:xfrm>
            <a:off x="311700" y="103119"/>
            <a:ext cx="8520600" cy="572700"/>
          </a:xfrm>
        </p:spPr>
        <p:txBody>
          <a:bodyPr>
            <a:normAutofit fontScale="90000"/>
          </a:bodyPr>
          <a:lstStyle/>
          <a:p>
            <a:r>
              <a:rPr lang="en-US" dirty="0"/>
              <a:t>Myron BEACO2N vs. RIDEM: No meteorological filtering</a:t>
            </a:r>
          </a:p>
        </p:txBody>
      </p:sp>
      <p:pic>
        <p:nvPicPr>
          <p:cNvPr id="10" name="Picture 9" descr="A calendar with numbers and a number of days&#10;&#10;AI-generated content may be incorrect.">
            <a:extLst>
              <a:ext uri="{FF2B5EF4-FFF2-40B4-BE49-F238E27FC236}">
                <a16:creationId xmlns:a16="http://schemas.microsoft.com/office/drawing/2014/main" id="{F8CB8990-77DC-2CE0-301C-06B860E5FD9C}"/>
              </a:ext>
            </a:extLst>
          </p:cNvPr>
          <p:cNvPicPr>
            <a:picLocks noChangeAspect="1"/>
          </p:cNvPicPr>
          <p:nvPr/>
        </p:nvPicPr>
        <p:blipFill>
          <a:blip r:embed="rId2"/>
          <a:stretch>
            <a:fillRect/>
          </a:stretch>
        </p:blipFill>
        <p:spPr>
          <a:xfrm>
            <a:off x="1272188" y="770036"/>
            <a:ext cx="3299812" cy="4270345"/>
          </a:xfrm>
          <a:prstGeom prst="rect">
            <a:avLst/>
          </a:prstGeom>
        </p:spPr>
      </p:pic>
      <p:pic>
        <p:nvPicPr>
          <p:cNvPr id="12" name="Picture 11" descr="A graph of different colored lines&#10;&#10;AI-generated content may be incorrect.">
            <a:extLst>
              <a:ext uri="{FF2B5EF4-FFF2-40B4-BE49-F238E27FC236}">
                <a16:creationId xmlns:a16="http://schemas.microsoft.com/office/drawing/2014/main" id="{ACB8B229-3C7A-B5AE-3AD7-8DC8FD8BF1E6}"/>
              </a:ext>
            </a:extLst>
          </p:cNvPr>
          <p:cNvPicPr>
            <a:picLocks noChangeAspect="1"/>
          </p:cNvPicPr>
          <p:nvPr/>
        </p:nvPicPr>
        <p:blipFill>
          <a:blip r:embed="rId3"/>
          <a:stretch>
            <a:fillRect/>
          </a:stretch>
        </p:blipFill>
        <p:spPr>
          <a:xfrm>
            <a:off x="4572001" y="770036"/>
            <a:ext cx="3299812" cy="4270345"/>
          </a:xfrm>
          <a:prstGeom prst="rect">
            <a:avLst/>
          </a:prstGeom>
        </p:spPr>
      </p:pic>
    </p:spTree>
    <p:extLst>
      <p:ext uri="{BB962C8B-B14F-4D97-AF65-F5344CB8AC3E}">
        <p14:creationId xmlns:p14="http://schemas.microsoft.com/office/powerpoint/2010/main" val="264066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BE173-9437-41DB-F70B-993B3A7A67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3FBB2-D7A4-5411-A0F0-9E72414AD791}"/>
              </a:ext>
            </a:extLst>
          </p:cNvPr>
          <p:cNvSpPr>
            <a:spLocks noGrp="1"/>
          </p:cNvSpPr>
          <p:nvPr>
            <p:ph type="title"/>
          </p:nvPr>
        </p:nvSpPr>
        <p:spPr>
          <a:xfrm>
            <a:off x="311700" y="103119"/>
            <a:ext cx="8520600" cy="572700"/>
          </a:xfrm>
        </p:spPr>
        <p:txBody>
          <a:bodyPr>
            <a:normAutofit fontScale="90000"/>
          </a:bodyPr>
          <a:lstStyle/>
          <a:p>
            <a:r>
              <a:rPr lang="en-US" dirty="0"/>
              <a:t>Myron BEACO2N vs. RIDEM: No meteorological filtering</a:t>
            </a:r>
          </a:p>
        </p:txBody>
      </p:sp>
      <p:pic>
        <p:nvPicPr>
          <p:cNvPr id="4" name="Picture 3" descr="A screenshot of a graph&#10;&#10;AI-generated content may be incorrect.">
            <a:extLst>
              <a:ext uri="{FF2B5EF4-FFF2-40B4-BE49-F238E27FC236}">
                <a16:creationId xmlns:a16="http://schemas.microsoft.com/office/drawing/2014/main" id="{7935DBA6-3EF5-3F58-06B7-6896BCBBA39D}"/>
              </a:ext>
            </a:extLst>
          </p:cNvPr>
          <p:cNvPicPr>
            <a:picLocks noChangeAspect="1"/>
          </p:cNvPicPr>
          <p:nvPr/>
        </p:nvPicPr>
        <p:blipFill>
          <a:blip r:embed="rId2"/>
          <a:stretch>
            <a:fillRect/>
          </a:stretch>
        </p:blipFill>
        <p:spPr>
          <a:xfrm>
            <a:off x="1119701" y="675819"/>
            <a:ext cx="3452299" cy="4467681"/>
          </a:xfrm>
          <a:prstGeom prst="rect">
            <a:avLst/>
          </a:prstGeom>
        </p:spPr>
      </p:pic>
      <p:pic>
        <p:nvPicPr>
          <p:cNvPr id="6" name="Picture 5" descr="A graph with lines and numbers&#10;&#10;AI-generated content may be incorrect.">
            <a:extLst>
              <a:ext uri="{FF2B5EF4-FFF2-40B4-BE49-F238E27FC236}">
                <a16:creationId xmlns:a16="http://schemas.microsoft.com/office/drawing/2014/main" id="{5B246B98-1D92-A82A-5494-615267A99E67}"/>
              </a:ext>
            </a:extLst>
          </p:cNvPr>
          <p:cNvPicPr>
            <a:picLocks noChangeAspect="1"/>
          </p:cNvPicPr>
          <p:nvPr/>
        </p:nvPicPr>
        <p:blipFill>
          <a:blip r:embed="rId3"/>
          <a:stretch>
            <a:fillRect/>
          </a:stretch>
        </p:blipFill>
        <p:spPr>
          <a:xfrm>
            <a:off x="4572000" y="1131151"/>
            <a:ext cx="3557016" cy="3557016"/>
          </a:xfrm>
          <a:prstGeom prst="rect">
            <a:avLst/>
          </a:prstGeom>
        </p:spPr>
      </p:pic>
    </p:spTree>
    <p:extLst>
      <p:ext uri="{BB962C8B-B14F-4D97-AF65-F5344CB8AC3E}">
        <p14:creationId xmlns:p14="http://schemas.microsoft.com/office/powerpoint/2010/main" val="590812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03519-D8E0-3BBE-323A-DD389370D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EDAF9-EFF7-C640-4138-14D762B8F23F}"/>
              </a:ext>
            </a:extLst>
          </p:cNvPr>
          <p:cNvSpPr>
            <a:spLocks noGrp="1"/>
          </p:cNvSpPr>
          <p:nvPr>
            <p:ph type="title"/>
          </p:nvPr>
        </p:nvSpPr>
        <p:spPr>
          <a:xfrm>
            <a:off x="311700" y="103119"/>
            <a:ext cx="8520600" cy="572700"/>
          </a:xfrm>
        </p:spPr>
        <p:txBody>
          <a:bodyPr>
            <a:normAutofit fontScale="90000"/>
          </a:bodyPr>
          <a:lstStyle/>
          <a:p>
            <a:r>
              <a:rPr lang="en-US" dirty="0"/>
              <a:t>Myron BEACO2N vs. Self at Year 1: No met. filtering</a:t>
            </a:r>
          </a:p>
        </p:txBody>
      </p:sp>
      <p:pic>
        <p:nvPicPr>
          <p:cNvPr id="5" name="Picture 4" descr="A screenshot of a graph&#10;&#10;AI-generated content may be incorrect.">
            <a:extLst>
              <a:ext uri="{FF2B5EF4-FFF2-40B4-BE49-F238E27FC236}">
                <a16:creationId xmlns:a16="http://schemas.microsoft.com/office/drawing/2014/main" id="{D6231B37-88E5-914C-FB5B-2263850420CD}"/>
              </a:ext>
            </a:extLst>
          </p:cNvPr>
          <p:cNvPicPr>
            <a:picLocks noChangeAspect="1"/>
          </p:cNvPicPr>
          <p:nvPr/>
        </p:nvPicPr>
        <p:blipFill>
          <a:blip r:embed="rId2"/>
          <a:stretch>
            <a:fillRect/>
          </a:stretch>
        </p:blipFill>
        <p:spPr>
          <a:xfrm>
            <a:off x="1115568" y="675819"/>
            <a:ext cx="3456432" cy="4473029"/>
          </a:xfrm>
          <a:prstGeom prst="rect">
            <a:avLst/>
          </a:prstGeom>
        </p:spPr>
      </p:pic>
      <p:pic>
        <p:nvPicPr>
          <p:cNvPr id="8" name="Picture 7" descr="A graph of statistics&#10;&#10;AI-generated content may be incorrect.">
            <a:extLst>
              <a:ext uri="{FF2B5EF4-FFF2-40B4-BE49-F238E27FC236}">
                <a16:creationId xmlns:a16="http://schemas.microsoft.com/office/drawing/2014/main" id="{922CA588-A1D8-09DE-324A-96BD337D1299}"/>
              </a:ext>
            </a:extLst>
          </p:cNvPr>
          <p:cNvPicPr>
            <a:picLocks noChangeAspect="1"/>
          </p:cNvPicPr>
          <p:nvPr/>
        </p:nvPicPr>
        <p:blipFill>
          <a:blip r:embed="rId3"/>
          <a:stretch>
            <a:fillRect/>
          </a:stretch>
        </p:blipFill>
        <p:spPr>
          <a:xfrm>
            <a:off x="4572000" y="1184117"/>
            <a:ext cx="3456432" cy="3456432"/>
          </a:xfrm>
          <a:prstGeom prst="rect">
            <a:avLst/>
          </a:prstGeom>
        </p:spPr>
      </p:pic>
    </p:spTree>
    <p:extLst>
      <p:ext uri="{BB962C8B-B14F-4D97-AF65-F5344CB8AC3E}">
        <p14:creationId xmlns:p14="http://schemas.microsoft.com/office/powerpoint/2010/main" val="3231968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CE617-813F-5EEB-634D-53A0CE40B901}"/>
              </a:ext>
            </a:extLst>
          </p:cNvPr>
          <p:cNvSpPr>
            <a:spLocks noGrp="1"/>
          </p:cNvSpPr>
          <p:nvPr>
            <p:ph type="title"/>
          </p:nvPr>
        </p:nvSpPr>
        <p:spPr/>
        <p:txBody>
          <a:bodyPr>
            <a:normAutofit fontScale="90000"/>
          </a:bodyPr>
          <a:lstStyle/>
          <a:p>
            <a:r>
              <a:rPr lang="en-US" dirty="0"/>
              <a:t>Observations</a:t>
            </a:r>
          </a:p>
        </p:txBody>
      </p:sp>
      <p:sp>
        <p:nvSpPr>
          <p:cNvPr id="3" name="Text Placeholder 2">
            <a:extLst>
              <a:ext uri="{FF2B5EF4-FFF2-40B4-BE49-F238E27FC236}">
                <a16:creationId xmlns:a16="http://schemas.microsoft.com/office/drawing/2014/main" id="{574AFE84-3ACC-D2E5-7763-4C9C43A487EC}"/>
              </a:ext>
            </a:extLst>
          </p:cNvPr>
          <p:cNvSpPr>
            <a:spLocks noGrp="1"/>
          </p:cNvSpPr>
          <p:nvPr>
            <p:ph type="body" idx="1"/>
          </p:nvPr>
        </p:nvSpPr>
        <p:spPr/>
        <p:txBody>
          <a:bodyPr/>
          <a:lstStyle/>
          <a:p>
            <a:r>
              <a:rPr lang="en-US" dirty="0"/>
              <a:t>We see that divergence spikes during summer months and does not return to low level it was at before summer spike.</a:t>
            </a:r>
          </a:p>
          <a:p>
            <a:r>
              <a:rPr lang="en-US" dirty="0"/>
              <a:t>Hypothesis: Sensor performance at strenuous meteorological conditions degrades more rapidly over time than sensor performance at normal meteorological conditions.</a:t>
            </a:r>
          </a:p>
          <a:p>
            <a:pPr lvl="1"/>
            <a:r>
              <a:rPr lang="en-US" dirty="0"/>
              <a:t>“Strenuous meteorological conditions” are temp&gt;30C or rh&gt;0.75</a:t>
            </a:r>
          </a:p>
        </p:txBody>
      </p:sp>
    </p:spTree>
    <p:extLst>
      <p:ext uri="{BB962C8B-B14F-4D97-AF65-F5344CB8AC3E}">
        <p14:creationId xmlns:p14="http://schemas.microsoft.com/office/powerpoint/2010/main" val="1093556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0F3D-C570-016B-351C-47FEF6FE4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A68180-766E-CD8D-70AC-B576CE4B3111}"/>
              </a:ext>
            </a:extLst>
          </p:cNvPr>
          <p:cNvSpPr>
            <a:spLocks noGrp="1"/>
          </p:cNvSpPr>
          <p:nvPr>
            <p:ph type="title"/>
          </p:nvPr>
        </p:nvSpPr>
        <p:spPr>
          <a:xfrm>
            <a:off x="311700" y="103119"/>
            <a:ext cx="8520600" cy="572700"/>
          </a:xfrm>
        </p:spPr>
        <p:txBody>
          <a:bodyPr>
            <a:normAutofit fontScale="90000"/>
          </a:bodyPr>
          <a:lstStyle/>
          <a:p>
            <a:r>
              <a:rPr lang="en-US" dirty="0"/>
              <a:t>Myron BEACO2N vs. RIDEM: with met. filtering</a:t>
            </a:r>
          </a:p>
        </p:txBody>
      </p:sp>
      <p:pic>
        <p:nvPicPr>
          <p:cNvPr id="4" name="Picture 3" descr="A calendar with a number of days and months&#10;&#10;AI-generated content may be incorrect.">
            <a:extLst>
              <a:ext uri="{FF2B5EF4-FFF2-40B4-BE49-F238E27FC236}">
                <a16:creationId xmlns:a16="http://schemas.microsoft.com/office/drawing/2014/main" id="{88872B2A-61E1-2627-3A97-070A2790D90E}"/>
              </a:ext>
            </a:extLst>
          </p:cNvPr>
          <p:cNvPicPr>
            <a:picLocks noChangeAspect="1"/>
          </p:cNvPicPr>
          <p:nvPr/>
        </p:nvPicPr>
        <p:blipFill>
          <a:blip r:embed="rId2"/>
          <a:stretch>
            <a:fillRect/>
          </a:stretch>
        </p:blipFill>
        <p:spPr>
          <a:xfrm>
            <a:off x="1046706" y="675819"/>
            <a:ext cx="3452299" cy="4467681"/>
          </a:xfrm>
          <a:prstGeom prst="rect">
            <a:avLst/>
          </a:prstGeom>
        </p:spPr>
      </p:pic>
      <p:pic>
        <p:nvPicPr>
          <p:cNvPr id="16" name="Picture 15" descr="A screenshot of a graph&#10;&#10;AI-generated content may be incorrect.">
            <a:extLst>
              <a:ext uri="{FF2B5EF4-FFF2-40B4-BE49-F238E27FC236}">
                <a16:creationId xmlns:a16="http://schemas.microsoft.com/office/drawing/2014/main" id="{B57CD31A-0EC4-036A-AC3E-8EEB4A3FD4DF}"/>
              </a:ext>
            </a:extLst>
          </p:cNvPr>
          <p:cNvPicPr>
            <a:picLocks noChangeAspect="1"/>
          </p:cNvPicPr>
          <p:nvPr/>
        </p:nvPicPr>
        <p:blipFill>
          <a:blip r:embed="rId3"/>
          <a:stretch>
            <a:fillRect/>
          </a:stretch>
        </p:blipFill>
        <p:spPr>
          <a:xfrm>
            <a:off x="4572000" y="675819"/>
            <a:ext cx="3452299" cy="4467680"/>
          </a:xfrm>
          <a:prstGeom prst="rect">
            <a:avLst/>
          </a:prstGeom>
        </p:spPr>
      </p:pic>
      <p:sp>
        <p:nvSpPr>
          <p:cNvPr id="19" name="TextBox 18">
            <a:extLst>
              <a:ext uri="{FF2B5EF4-FFF2-40B4-BE49-F238E27FC236}">
                <a16:creationId xmlns:a16="http://schemas.microsoft.com/office/drawing/2014/main" id="{9E588AB9-20FB-BD5E-0AF6-600925DBE830}"/>
              </a:ext>
            </a:extLst>
          </p:cNvPr>
          <p:cNvSpPr txBox="1"/>
          <p:nvPr/>
        </p:nvSpPr>
        <p:spPr>
          <a:xfrm>
            <a:off x="8024299" y="4209384"/>
            <a:ext cx="1119701" cy="830997"/>
          </a:xfrm>
          <a:prstGeom prst="rect">
            <a:avLst/>
          </a:prstGeom>
          <a:noFill/>
        </p:spPr>
        <p:txBody>
          <a:bodyPr wrap="square" rtlCol="0">
            <a:spAutoFit/>
          </a:bodyPr>
          <a:lstStyle/>
          <a:p>
            <a:r>
              <a:rPr lang="en-US" sz="800" dirty="0">
                <a:sym typeface="Wingdings" pitchFamily="2" charset="2"/>
              </a:rPr>
              <a:t></a:t>
            </a:r>
            <a:r>
              <a:rPr lang="en-US" sz="800" dirty="0"/>
              <a:t>Meteorology filter is mislabeled on this graph, should say </a:t>
            </a:r>
            <a:br>
              <a:rPr lang="en-US" sz="800" dirty="0"/>
            </a:br>
            <a:r>
              <a:rPr lang="en-US" sz="800" dirty="0"/>
              <a:t>(t&lt;30C, rh&lt;0.75).</a:t>
            </a:r>
            <a:br>
              <a:rPr lang="en-US" sz="800" dirty="0"/>
            </a:br>
            <a:r>
              <a:rPr lang="en-US" sz="800" dirty="0"/>
              <a:t>Plotted data is properly filtered.</a:t>
            </a:r>
          </a:p>
        </p:txBody>
      </p:sp>
    </p:spTree>
    <p:extLst>
      <p:ext uri="{BB962C8B-B14F-4D97-AF65-F5344CB8AC3E}">
        <p14:creationId xmlns:p14="http://schemas.microsoft.com/office/powerpoint/2010/main" val="656224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4BF13-98B0-DA4C-B40C-0B62CC9EEC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10A75-4CDC-4680-3370-D1294A14FFEB}"/>
              </a:ext>
            </a:extLst>
          </p:cNvPr>
          <p:cNvSpPr>
            <a:spLocks noGrp="1"/>
          </p:cNvSpPr>
          <p:nvPr>
            <p:ph type="title"/>
          </p:nvPr>
        </p:nvSpPr>
        <p:spPr>
          <a:xfrm>
            <a:off x="311700" y="103119"/>
            <a:ext cx="8520600" cy="572700"/>
          </a:xfrm>
        </p:spPr>
        <p:txBody>
          <a:bodyPr>
            <a:normAutofit fontScale="90000"/>
          </a:bodyPr>
          <a:lstStyle/>
          <a:p>
            <a:r>
              <a:rPr lang="en-US" dirty="0"/>
              <a:t>Myron BEACO2N vs. RIDEM: with met. filtering</a:t>
            </a:r>
          </a:p>
        </p:txBody>
      </p:sp>
      <p:pic>
        <p:nvPicPr>
          <p:cNvPr id="8" name="Picture 7" descr="A graph with lines and numbers&#10;&#10;AI-generated content may be incorrect.">
            <a:extLst>
              <a:ext uri="{FF2B5EF4-FFF2-40B4-BE49-F238E27FC236}">
                <a16:creationId xmlns:a16="http://schemas.microsoft.com/office/drawing/2014/main" id="{B95F570F-5E52-E3AF-D0B0-28A1B5D8A2BF}"/>
              </a:ext>
            </a:extLst>
          </p:cNvPr>
          <p:cNvPicPr>
            <a:picLocks noChangeAspect="1"/>
          </p:cNvPicPr>
          <p:nvPr/>
        </p:nvPicPr>
        <p:blipFill>
          <a:blip r:embed="rId2"/>
          <a:stretch>
            <a:fillRect/>
          </a:stretch>
        </p:blipFill>
        <p:spPr>
          <a:xfrm>
            <a:off x="4571999" y="1185161"/>
            <a:ext cx="3446411" cy="3446411"/>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977C245D-BADB-B4FC-92BA-63341A00D9A0}"/>
              </a:ext>
            </a:extLst>
          </p:cNvPr>
          <p:cNvPicPr>
            <a:picLocks noChangeAspect="1"/>
          </p:cNvPicPr>
          <p:nvPr/>
        </p:nvPicPr>
        <p:blipFill>
          <a:blip r:embed="rId3"/>
          <a:stretch>
            <a:fillRect/>
          </a:stretch>
        </p:blipFill>
        <p:spPr>
          <a:xfrm>
            <a:off x="1125588" y="675818"/>
            <a:ext cx="3446411" cy="4460061"/>
          </a:xfrm>
          <a:prstGeom prst="rect">
            <a:avLst/>
          </a:prstGeom>
        </p:spPr>
      </p:pic>
    </p:spTree>
    <p:extLst>
      <p:ext uri="{BB962C8B-B14F-4D97-AF65-F5344CB8AC3E}">
        <p14:creationId xmlns:p14="http://schemas.microsoft.com/office/powerpoint/2010/main" val="864034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41CD8-789B-C5A8-9DAA-235839FD1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6B2F89-F722-0EFA-E32D-55305EE4FC27}"/>
              </a:ext>
            </a:extLst>
          </p:cNvPr>
          <p:cNvSpPr>
            <a:spLocks noGrp="1"/>
          </p:cNvSpPr>
          <p:nvPr>
            <p:ph type="title"/>
          </p:nvPr>
        </p:nvSpPr>
        <p:spPr>
          <a:xfrm>
            <a:off x="311700" y="103119"/>
            <a:ext cx="8520600" cy="572700"/>
          </a:xfrm>
        </p:spPr>
        <p:txBody>
          <a:bodyPr>
            <a:normAutofit fontScale="90000"/>
          </a:bodyPr>
          <a:lstStyle/>
          <a:p>
            <a:r>
              <a:rPr lang="en-US" dirty="0"/>
              <a:t>Myron BEACO2N vs. RIDEM: with met. filtering</a:t>
            </a:r>
          </a:p>
        </p:txBody>
      </p:sp>
      <p:pic>
        <p:nvPicPr>
          <p:cNvPr id="4" name="Picture 3" descr="A graph with lines and text&#10;&#10;AI-generated content may be incorrect.">
            <a:extLst>
              <a:ext uri="{FF2B5EF4-FFF2-40B4-BE49-F238E27FC236}">
                <a16:creationId xmlns:a16="http://schemas.microsoft.com/office/drawing/2014/main" id="{C17FE580-2B77-FD85-C56C-384794A448E0}"/>
              </a:ext>
            </a:extLst>
          </p:cNvPr>
          <p:cNvPicPr>
            <a:picLocks noChangeAspect="1"/>
          </p:cNvPicPr>
          <p:nvPr/>
        </p:nvPicPr>
        <p:blipFill>
          <a:blip r:embed="rId2"/>
          <a:stretch>
            <a:fillRect/>
          </a:stretch>
        </p:blipFill>
        <p:spPr>
          <a:xfrm>
            <a:off x="2589178" y="675819"/>
            <a:ext cx="3965643" cy="3965643"/>
          </a:xfrm>
          <a:prstGeom prst="rect">
            <a:avLst/>
          </a:prstGeom>
        </p:spPr>
      </p:pic>
    </p:spTree>
    <p:extLst>
      <p:ext uri="{BB962C8B-B14F-4D97-AF65-F5344CB8AC3E}">
        <p14:creationId xmlns:p14="http://schemas.microsoft.com/office/powerpoint/2010/main" val="150008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09254-BC6E-001F-435B-63B388B279B3}"/>
              </a:ext>
            </a:extLst>
          </p:cNvPr>
          <p:cNvSpPr>
            <a:spLocks noGrp="1"/>
          </p:cNvSpPr>
          <p:nvPr>
            <p:ph type="title"/>
          </p:nvPr>
        </p:nvSpPr>
        <p:spPr/>
        <p:txBody>
          <a:bodyPr>
            <a:normAutofit fontScale="90000"/>
          </a:bodyPr>
          <a:lstStyle/>
          <a:p>
            <a:r>
              <a:rPr lang="en-US" dirty="0"/>
              <a:t>Observations</a:t>
            </a:r>
          </a:p>
        </p:txBody>
      </p:sp>
      <p:sp>
        <p:nvSpPr>
          <p:cNvPr id="3" name="Text Placeholder 2">
            <a:extLst>
              <a:ext uri="{FF2B5EF4-FFF2-40B4-BE49-F238E27FC236}">
                <a16:creationId xmlns:a16="http://schemas.microsoft.com/office/drawing/2014/main" id="{53A83E7B-9850-9C8E-FF5C-2D5175B3D7E3}"/>
              </a:ext>
            </a:extLst>
          </p:cNvPr>
          <p:cNvSpPr>
            <a:spLocks noGrp="1"/>
          </p:cNvSpPr>
          <p:nvPr>
            <p:ph type="body" idx="1"/>
          </p:nvPr>
        </p:nvSpPr>
        <p:spPr/>
        <p:txBody>
          <a:bodyPr/>
          <a:lstStyle/>
          <a:p>
            <a:r>
              <a:rPr lang="en-US" dirty="0"/>
              <a:t>At ~12 </a:t>
            </a:r>
            <a:r>
              <a:rPr lang="en-US" dirty="0" err="1"/>
              <a:t>mos</a:t>
            </a:r>
            <a:r>
              <a:rPr lang="en-US" dirty="0"/>
              <a:t> of deployment, information loss increases as result of meteorological filtering.</a:t>
            </a:r>
          </a:p>
          <a:p>
            <a:r>
              <a:rPr lang="en-US" dirty="0"/>
              <a:t>This may indicate that for the first operating year, BEACO2N sensors perform reasonably well at strenuous meteorological conditions and are aligned with reference measurements. </a:t>
            </a:r>
          </a:p>
          <a:p>
            <a:pPr lvl="1"/>
            <a:r>
              <a:rPr lang="en-US" dirty="0"/>
              <a:t>May also just be noise…</a:t>
            </a:r>
          </a:p>
        </p:txBody>
      </p:sp>
    </p:spTree>
    <p:extLst>
      <p:ext uri="{BB962C8B-B14F-4D97-AF65-F5344CB8AC3E}">
        <p14:creationId xmlns:p14="http://schemas.microsoft.com/office/powerpoint/2010/main" val="39815712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E8FD0-83FF-9DF6-618D-452B4109A5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682DD-07BF-E774-E68C-F9F3662CCE3B}"/>
              </a:ext>
            </a:extLst>
          </p:cNvPr>
          <p:cNvSpPr>
            <a:spLocks noGrp="1"/>
          </p:cNvSpPr>
          <p:nvPr>
            <p:ph type="title"/>
          </p:nvPr>
        </p:nvSpPr>
        <p:spPr>
          <a:xfrm>
            <a:off x="311700" y="103119"/>
            <a:ext cx="8520600" cy="572700"/>
          </a:xfrm>
        </p:spPr>
        <p:txBody>
          <a:bodyPr>
            <a:normAutofit fontScale="90000"/>
          </a:bodyPr>
          <a:lstStyle/>
          <a:p>
            <a:r>
              <a:rPr lang="en-US" dirty="0"/>
              <a:t>Myron BEACO2N vs. Self at year 1: with met. filtering</a:t>
            </a:r>
          </a:p>
        </p:txBody>
      </p:sp>
      <p:pic>
        <p:nvPicPr>
          <p:cNvPr id="5" name="Picture 4" descr="A screenshot of a graph&#10;&#10;AI-generated content may be incorrect.">
            <a:extLst>
              <a:ext uri="{FF2B5EF4-FFF2-40B4-BE49-F238E27FC236}">
                <a16:creationId xmlns:a16="http://schemas.microsoft.com/office/drawing/2014/main" id="{81BF71BD-9DB5-D29A-A420-A07587244C58}"/>
              </a:ext>
            </a:extLst>
          </p:cNvPr>
          <p:cNvPicPr>
            <a:picLocks noChangeAspect="1"/>
          </p:cNvPicPr>
          <p:nvPr/>
        </p:nvPicPr>
        <p:blipFill>
          <a:blip r:embed="rId2"/>
          <a:stretch>
            <a:fillRect/>
          </a:stretch>
        </p:blipFill>
        <p:spPr>
          <a:xfrm>
            <a:off x="911580" y="675819"/>
            <a:ext cx="3238888" cy="4191502"/>
          </a:xfrm>
          <a:prstGeom prst="rect">
            <a:avLst/>
          </a:prstGeom>
        </p:spPr>
      </p:pic>
      <p:pic>
        <p:nvPicPr>
          <p:cNvPr id="7" name="Picture 6" descr="A graph of statistics&#10;&#10;AI-generated content may be incorrect.">
            <a:extLst>
              <a:ext uri="{FF2B5EF4-FFF2-40B4-BE49-F238E27FC236}">
                <a16:creationId xmlns:a16="http://schemas.microsoft.com/office/drawing/2014/main" id="{B3E663A4-C9D7-FD63-3D54-2D3CBBE8F1C3}"/>
              </a:ext>
            </a:extLst>
          </p:cNvPr>
          <p:cNvPicPr>
            <a:picLocks noChangeAspect="1"/>
          </p:cNvPicPr>
          <p:nvPr/>
        </p:nvPicPr>
        <p:blipFill>
          <a:blip r:embed="rId3"/>
          <a:stretch>
            <a:fillRect/>
          </a:stretch>
        </p:blipFill>
        <p:spPr>
          <a:xfrm>
            <a:off x="4150468" y="939122"/>
            <a:ext cx="3664896" cy="3664896"/>
          </a:xfrm>
          <a:prstGeom prst="rect">
            <a:avLst/>
          </a:prstGeom>
        </p:spPr>
      </p:pic>
    </p:spTree>
    <p:extLst>
      <p:ext uri="{BB962C8B-B14F-4D97-AF65-F5344CB8AC3E}">
        <p14:creationId xmlns:p14="http://schemas.microsoft.com/office/powerpoint/2010/main" val="1012995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0F832-290A-879F-106B-E9F767382EC6}"/>
              </a:ext>
            </a:extLst>
          </p:cNvPr>
          <p:cNvSpPr>
            <a:spLocks noGrp="1"/>
          </p:cNvSpPr>
          <p:nvPr>
            <p:ph type="title"/>
          </p:nvPr>
        </p:nvSpPr>
        <p:spPr/>
        <p:txBody>
          <a:bodyPr>
            <a:normAutofit fontScale="90000"/>
          </a:bodyPr>
          <a:lstStyle/>
          <a:p>
            <a:r>
              <a:rPr lang="en-US" dirty="0"/>
              <a:t>Myron BEACO2N vs. Self at year 1: with met. filtering</a:t>
            </a:r>
          </a:p>
        </p:txBody>
      </p:sp>
      <p:pic>
        <p:nvPicPr>
          <p:cNvPr id="5" name="Picture 4" descr="A graph of a graph&#10;&#10;AI-generated content may be incorrect.">
            <a:extLst>
              <a:ext uri="{FF2B5EF4-FFF2-40B4-BE49-F238E27FC236}">
                <a16:creationId xmlns:a16="http://schemas.microsoft.com/office/drawing/2014/main" id="{CB3AB889-AAE3-D141-2449-312A05159FB2}"/>
              </a:ext>
            </a:extLst>
          </p:cNvPr>
          <p:cNvPicPr>
            <a:picLocks noChangeAspect="1"/>
          </p:cNvPicPr>
          <p:nvPr/>
        </p:nvPicPr>
        <p:blipFill>
          <a:blip r:embed="rId2"/>
          <a:stretch>
            <a:fillRect/>
          </a:stretch>
        </p:blipFill>
        <p:spPr>
          <a:xfrm>
            <a:off x="2670242" y="1017725"/>
            <a:ext cx="3803515" cy="3803515"/>
          </a:xfrm>
          <a:prstGeom prst="rect">
            <a:avLst/>
          </a:prstGeom>
        </p:spPr>
      </p:pic>
    </p:spTree>
    <p:extLst>
      <p:ext uri="{BB962C8B-B14F-4D97-AF65-F5344CB8AC3E}">
        <p14:creationId xmlns:p14="http://schemas.microsoft.com/office/powerpoint/2010/main" val="24383603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A2601-E8EB-AE46-6273-FBC11E6E3FF2}"/>
              </a:ext>
            </a:extLst>
          </p:cNvPr>
          <p:cNvSpPr>
            <a:spLocks noGrp="1"/>
          </p:cNvSpPr>
          <p:nvPr>
            <p:ph type="title"/>
          </p:nvPr>
        </p:nvSpPr>
        <p:spPr/>
        <p:txBody>
          <a:bodyPr>
            <a:normAutofit fontScale="90000"/>
          </a:bodyPr>
          <a:lstStyle/>
          <a:p>
            <a:r>
              <a:rPr lang="en-US" dirty="0"/>
              <a:t>Observations</a:t>
            </a:r>
          </a:p>
        </p:txBody>
      </p:sp>
      <p:sp>
        <p:nvSpPr>
          <p:cNvPr id="3" name="Text Placeholder 2">
            <a:extLst>
              <a:ext uri="{FF2B5EF4-FFF2-40B4-BE49-F238E27FC236}">
                <a16:creationId xmlns:a16="http://schemas.microsoft.com/office/drawing/2014/main" id="{4B3D027F-A6BD-52DD-1F4A-D8B3C7CAC79E}"/>
              </a:ext>
            </a:extLst>
          </p:cNvPr>
          <p:cNvSpPr>
            <a:spLocks noGrp="1"/>
          </p:cNvSpPr>
          <p:nvPr>
            <p:ph type="body" idx="1"/>
          </p:nvPr>
        </p:nvSpPr>
        <p:spPr/>
        <p:txBody>
          <a:bodyPr/>
          <a:lstStyle/>
          <a:p>
            <a:r>
              <a:rPr lang="en-US" dirty="0"/>
              <a:t>Information loss again increases at ~12 </a:t>
            </a:r>
            <a:r>
              <a:rPr lang="en-US" dirty="0" err="1"/>
              <a:t>mos</a:t>
            </a:r>
            <a:r>
              <a:rPr lang="en-US" dirty="0"/>
              <a:t> but decreases at ~24 </a:t>
            </a:r>
            <a:r>
              <a:rPr lang="en-US" dirty="0" err="1"/>
              <a:t>mos</a:t>
            </a:r>
            <a:r>
              <a:rPr lang="en-US" dirty="0"/>
              <a:t> (both summertime)</a:t>
            </a:r>
          </a:p>
          <a:p>
            <a:r>
              <a:rPr lang="en-US" dirty="0"/>
              <a:t>May indicate that sensor performance at strenuous meteorological conditions degrades over time.</a:t>
            </a:r>
          </a:p>
          <a:p>
            <a:pPr lvl="1"/>
            <a:r>
              <a:rPr lang="en-US" dirty="0"/>
              <a:t>We know that sensor performance during summer months is always less correlated with reference data than during winter months. In terms of this framing, our alternative hypothesis would mean that this poor correlation becomes worse with time. </a:t>
            </a:r>
          </a:p>
          <a:p>
            <a:pPr lvl="1"/>
            <a:endParaRPr lang="en-US" dirty="0"/>
          </a:p>
          <a:p>
            <a:pPr lvl="1"/>
            <a:endParaRPr lang="en-US" dirty="0"/>
          </a:p>
        </p:txBody>
      </p:sp>
    </p:spTree>
    <p:extLst>
      <p:ext uri="{BB962C8B-B14F-4D97-AF65-F5344CB8AC3E}">
        <p14:creationId xmlns:p14="http://schemas.microsoft.com/office/powerpoint/2010/main" val="15936341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0585C-EDE6-EA08-E01E-907CCB302CF6}"/>
              </a:ext>
            </a:extLst>
          </p:cNvPr>
          <p:cNvSpPr>
            <a:spLocks noGrp="1"/>
          </p:cNvSpPr>
          <p:nvPr>
            <p:ph type="title"/>
          </p:nvPr>
        </p:nvSpPr>
        <p:spPr/>
        <p:txBody>
          <a:bodyPr>
            <a:normAutofit fontScale="90000"/>
          </a:bodyPr>
          <a:lstStyle/>
          <a:p>
            <a:r>
              <a:rPr lang="en-US" dirty="0"/>
              <a:t>Issues with Generalizing this Method:</a:t>
            </a:r>
          </a:p>
        </p:txBody>
      </p:sp>
      <p:sp>
        <p:nvSpPr>
          <p:cNvPr id="3" name="Text Placeholder 2">
            <a:extLst>
              <a:ext uri="{FF2B5EF4-FFF2-40B4-BE49-F238E27FC236}">
                <a16:creationId xmlns:a16="http://schemas.microsoft.com/office/drawing/2014/main" id="{44581283-AE56-8BD5-355B-5CE4BEE25276}"/>
              </a:ext>
            </a:extLst>
          </p:cNvPr>
          <p:cNvSpPr>
            <a:spLocks noGrp="1"/>
          </p:cNvSpPr>
          <p:nvPr>
            <p:ph type="body" idx="1"/>
          </p:nvPr>
        </p:nvSpPr>
        <p:spPr>
          <a:xfrm>
            <a:off x="311700" y="1152475"/>
            <a:ext cx="4260300" cy="3416400"/>
          </a:xfrm>
        </p:spPr>
        <p:txBody>
          <a:bodyPr/>
          <a:lstStyle/>
          <a:p>
            <a:r>
              <a:rPr lang="en-US" dirty="0"/>
              <a:t>Many site plots exhibited data artifacts or program errors during script execution…</a:t>
            </a:r>
          </a:p>
          <a:p>
            <a:pPr lvl="1"/>
            <a:r>
              <a:rPr lang="en-US" dirty="0"/>
              <a:t>Sites that explicitly returned a program error: </a:t>
            </a:r>
            <a:r>
              <a:rPr lang="en-US" dirty="0" err="1"/>
              <a:t>rochambeaulib</a:t>
            </a:r>
            <a:r>
              <a:rPr lang="en-US" dirty="0"/>
              <a:t>, </a:t>
            </a:r>
            <a:r>
              <a:rPr lang="en-US" dirty="0" err="1"/>
              <a:t>zuccolo</a:t>
            </a:r>
            <a:r>
              <a:rPr lang="en-US" dirty="0"/>
              <a:t>, </a:t>
            </a:r>
            <a:r>
              <a:rPr lang="en-US" dirty="0" err="1"/>
              <a:t>smithhilllib</a:t>
            </a:r>
            <a:r>
              <a:rPr lang="en-US" dirty="0"/>
              <a:t>, </a:t>
            </a:r>
            <a:r>
              <a:rPr lang="en-US" dirty="0" err="1"/>
              <a:t>pema</a:t>
            </a:r>
            <a:r>
              <a:rPr lang="en-US" dirty="0"/>
              <a:t>, </a:t>
            </a:r>
            <a:r>
              <a:rPr lang="en-US" dirty="0" err="1"/>
              <a:t>rockspot</a:t>
            </a:r>
            <a:endParaRPr lang="en-US" dirty="0"/>
          </a:p>
          <a:p>
            <a:pPr lvl="1"/>
            <a:r>
              <a:rPr lang="en-US" dirty="0"/>
              <a:t>Artifacts appear to mainly be contained to comparisons with reference data.</a:t>
            </a:r>
          </a:p>
          <a:p>
            <a:pPr lvl="1"/>
            <a:endParaRPr lang="en-US" dirty="0"/>
          </a:p>
          <a:p>
            <a:pPr lvl="1"/>
            <a:endParaRPr lang="en-US" dirty="0"/>
          </a:p>
        </p:txBody>
      </p:sp>
      <p:pic>
        <p:nvPicPr>
          <p:cNvPr id="6" name="Picture 5">
            <a:extLst>
              <a:ext uri="{FF2B5EF4-FFF2-40B4-BE49-F238E27FC236}">
                <a16:creationId xmlns:a16="http://schemas.microsoft.com/office/drawing/2014/main" id="{F2AF458F-22AE-FAA9-46A1-4C8D098F904C}"/>
              </a:ext>
            </a:extLst>
          </p:cNvPr>
          <p:cNvPicPr>
            <a:picLocks noChangeAspect="1"/>
          </p:cNvPicPr>
          <p:nvPr/>
        </p:nvPicPr>
        <p:blipFill>
          <a:blip r:embed="rId2"/>
          <a:srcRect l="10155" t="20741" r="6155" b="20644"/>
          <a:stretch>
            <a:fillRect/>
          </a:stretch>
        </p:blipFill>
        <p:spPr>
          <a:xfrm>
            <a:off x="4572000" y="1152475"/>
            <a:ext cx="3326297" cy="3014871"/>
          </a:xfrm>
          <a:prstGeom prst="rect">
            <a:avLst/>
          </a:prstGeom>
        </p:spPr>
      </p:pic>
      <p:sp>
        <p:nvSpPr>
          <p:cNvPr id="7" name="TextBox 6">
            <a:extLst>
              <a:ext uri="{FF2B5EF4-FFF2-40B4-BE49-F238E27FC236}">
                <a16:creationId xmlns:a16="http://schemas.microsoft.com/office/drawing/2014/main" id="{BE53BD72-37FE-15CF-3BEE-31A1B4B2A2E4}"/>
              </a:ext>
            </a:extLst>
          </p:cNvPr>
          <p:cNvSpPr txBox="1"/>
          <p:nvPr/>
        </p:nvSpPr>
        <p:spPr>
          <a:xfrm>
            <a:off x="4572000" y="4273826"/>
            <a:ext cx="3326297" cy="523220"/>
          </a:xfrm>
          <a:prstGeom prst="rect">
            <a:avLst/>
          </a:prstGeom>
          <a:noFill/>
        </p:spPr>
        <p:txBody>
          <a:bodyPr wrap="square" rtlCol="0">
            <a:spAutoFit/>
          </a:bodyPr>
          <a:lstStyle/>
          <a:p>
            <a:r>
              <a:rPr lang="en-US" dirty="0"/>
              <a:t>Blackstone Divergences vs RIDEM Cranston without met. filtering</a:t>
            </a:r>
          </a:p>
        </p:txBody>
      </p:sp>
      <mc:AlternateContent xmlns:mc="http://schemas.openxmlformats.org/markup-compatibility/2006">
        <mc:Choice xmlns:p14="http://schemas.microsoft.com/office/powerpoint/2010/main" Requires="p14">
          <p:contentPart p14:bwMode="auto" r:id="rId3">
            <p14:nvContentPartPr>
              <p14:cNvPr id="22" name="Ink 21">
                <a:extLst>
                  <a:ext uri="{FF2B5EF4-FFF2-40B4-BE49-F238E27FC236}">
                    <a16:creationId xmlns:a16="http://schemas.microsoft.com/office/drawing/2014/main" id="{767FB175-BF83-DCA8-AD7C-FFA8A07AFD3B}"/>
                  </a:ext>
                </a:extLst>
              </p14:cNvPr>
              <p14:cNvContentPartPr/>
              <p14:nvPr/>
            </p14:nvContentPartPr>
            <p14:xfrm>
              <a:off x="6350922" y="1342028"/>
              <a:ext cx="360" cy="360"/>
            </p14:xfrm>
          </p:contentPart>
        </mc:Choice>
        <mc:Fallback>
          <p:pic>
            <p:nvPicPr>
              <p:cNvPr id="22" name="Ink 21">
                <a:extLst>
                  <a:ext uri="{FF2B5EF4-FFF2-40B4-BE49-F238E27FC236}">
                    <a16:creationId xmlns:a16="http://schemas.microsoft.com/office/drawing/2014/main" id="{767FB175-BF83-DCA8-AD7C-FFA8A07AFD3B}"/>
                  </a:ext>
                </a:extLst>
              </p:cNvPr>
              <p:cNvPicPr/>
              <p:nvPr/>
            </p:nvPicPr>
            <p:blipFill>
              <a:blip r:embed="rId4"/>
              <a:stretch>
                <a:fillRect/>
              </a:stretch>
            </p:blipFill>
            <p:spPr>
              <a:xfrm>
                <a:off x="6333282" y="13060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3" name="Ink 22">
                <a:extLst>
                  <a:ext uri="{FF2B5EF4-FFF2-40B4-BE49-F238E27FC236}">
                    <a16:creationId xmlns:a16="http://schemas.microsoft.com/office/drawing/2014/main" id="{F99B161F-622C-085C-0B4B-14698FA32EA4}"/>
                  </a:ext>
                </a:extLst>
              </p14:cNvPr>
              <p14:cNvContentPartPr/>
              <p14:nvPr/>
            </p14:nvContentPartPr>
            <p14:xfrm>
              <a:off x="6372882" y="1477388"/>
              <a:ext cx="360" cy="360"/>
            </p14:xfrm>
          </p:contentPart>
        </mc:Choice>
        <mc:Fallback>
          <p:pic>
            <p:nvPicPr>
              <p:cNvPr id="23" name="Ink 22">
                <a:extLst>
                  <a:ext uri="{FF2B5EF4-FFF2-40B4-BE49-F238E27FC236}">
                    <a16:creationId xmlns:a16="http://schemas.microsoft.com/office/drawing/2014/main" id="{F99B161F-622C-085C-0B4B-14698FA32EA4}"/>
                  </a:ext>
                </a:extLst>
              </p:cNvPr>
              <p:cNvPicPr/>
              <p:nvPr/>
            </p:nvPicPr>
            <p:blipFill>
              <a:blip r:embed="rId4"/>
              <a:stretch>
                <a:fillRect/>
              </a:stretch>
            </p:blipFill>
            <p:spPr>
              <a:xfrm>
                <a:off x="6354882" y="144138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358E6EA2-14A6-41F0-B953-CAF3B8B30687}"/>
                  </a:ext>
                </a:extLst>
              </p14:cNvPr>
              <p14:cNvContentPartPr/>
              <p14:nvPr/>
            </p14:nvContentPartPr>
            <p14:xfrm>
              <a:off x="6350922" y="1611668"/>
              <a:ext cx="360" cy="360"/>
            </p14:xfrm>
          </p:contentPart>
        </mc:Choice>
        <mc:Fallback>
          <p:pic>
            <p:nvPicPr>
              <p:cNvPr id="24" name="Ink 23">
                <a:extLst>
                  <a:ext uri="{FF2B5EF4-FFF2-40B4-BE49-F238E27FC236}">
                    <a16:creationId xmlns:a16="http://schemas.microsoft.com/office/drawing/2014/main" id="{358E6EA2-14A6-41F0-B953-CAF3B8B30687}"/>
                  </a:ext>
                </a:extLst>
              </p:cNvPr>
              <p:cNvPicPr/>
              <p:nvPr/>
            </p:nvPicPr>
            <p:blipFill>
              <a:blip r:embed="rId4"/>
              <a:stretch>
                <a:fillRect/>
              </a:stretch>
            </p:blipFill>
            <p:spPr>
              <a:xfrm>
                <a:off x="6332922" y="157566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5" name="Ink 24">
                <a:extLst>
                  <a:ext uri="{FF2B5EF4-FFF2-40B4-BE49-F238E27FC236}">
                    <a16:creationId xmlns:a16="http://schemas.microsoft.com/office/drawing/2014/main" id="{B4F226AC-5D60-CD9A-B281-155D48824E2A}"/>
                  </a:ext>
                </a:extLst>
              </p14:cNvPr>
              <p14:cNvContentPartPr/>
              <p14:nvPr/>
            </p14:nvContentPartPr>
            <p14:xfrm>
              <a:off x="6372882" y="1875548"/>
              <a:ext cx="360" cy="360"/>
            </p14:xfrm>
          </p:contentPart>
        </mc:Choice>
        <mc:Fallback>
          <p:pic>
            <p:nvPicPr>
              <p:cNvPr id="25" name="Ink 24">
                <a:extLst>
                  <a:ext uri="{FF2B5EF4-FFF2-40B4-BE49-F238E27FC236}">
                    <a16:creationId xmlns:a16="http://schemas.microsoft.com/office/drawing/2014/main" id="{B4F226AC-5D60-CD9A-B281-155D48824E2A}"/>
                  </a:ext>
                </a:extLst>
              </p:cNvPr>
              <p:cNvPicPr/>
              <p:nvPr/>
            </p:nvPicPr>
            <p:blipFill>
              <a:blip r:embed="rId4"/>
              <a:stretch>
                <a:fillRect/>
              </a:stretch>
            </p:blipFill>
            <p:spPr>
              <a:xfrm>
                <a:off x="6355242" y="183990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6" name="Ink 25">
                <a:extLst>
                  <a:ext uri="{FF2B5EF4-FFF2-40B4-BE49-F238E27FC236}">
                    <a16:creationId xmlns:a16="http://schemas.microsoft.com/office/drawing/2014/main" id="{F8AE863F-75FB-52C8-528C-8CB894C50CB5}"/>
                  </a:ext>
                </a:extLst>
              </p14:cNvPr>
              <p14:cNvContentPartPr/>
              <p14:nvPr/>
            </p14:nvContentPartPr>
            <p14:xfrm>
              <a:off x="6354522" y="2005868"/>
              <a:ext cx="360" cy="360"/>
            </p14:xfrm>
          </p:contentPart>
        </mc:Choice>
        <mc:Fallback>
          <p:pic>
            <p:nvPicPr>
              <p:cNvPr id="26" name="Ink 25">
                <a:extLst>
                  <a:ext uri="{FF2B5EF4-FFF2-40B4-BE49-F238E27FC236}">
                    <a16:creationId xmlns:a16="http://schemas.microsoft.com/office/drawing/2014/main" id="{F8AE863F-75FB-52C8-528C-8CB894C50CB5}"/>
                  </a:ext>
                </a:extLst>
              </p:cNvPr>
              <p:cNvPicPr/>
              <p:nvPr/>
            </p:nvPicPr>
            <p:blipFill>
              <a:blip r:embed="rId4"/>
              <a:stretch>
                <a:fillRect/>
              </a:stretch>
            </p:blipFill>
            <p:spPr>
              <a:xfrm>
                <a:off x="6336522" y="19702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27" name="Ink 26">
                <a:extLst>
                  <a:ext uri="{FF2B5EF4-FFF2-40B4-BE49-F238E27FC236}">
                    <a16:creationId xmlns:a16="http://schemas.microsoft.com/office/drawing/2014/main" id="{292DF32A-5DAF-3420-6713-0088F6DF54C6}"/>
                  </a:ext>
                </a:extLst>
              </p14:cNvPr>
              <p14:cNvContentPartPr/>
              <p14:nvPr/>
            </p14:nvContentPartPr>
            <p14:xfrm>
              <a:off x="6353802" y="2270468"/>
              <a:ext cx="360" cy="360"/>
            </p14:xfrm>
          </p:contentPart>
        </mc:Choice>
        <mc:Fallback>
          <p:pic>
            <p:nvPicPr>
              <p:cNvPr id="27" name="Ink 26">
                <a:extLst>
                  <a:ext uri="{FF2B5EF4-FFF2-40B4-BE49-F238E27FC236}">
                    <a16:creationId xmlns:a16="http://schemas.microsoft.com/office/drawing/2014/main" id="{292DF32A-5DAF-3420-6713-0088F6DF54C6}"/>
                  </a:ext>
                </a:extLst>
              </p:cNvPr>
              <p:cNvPicPr/>
              <p:nvPr/>
            </p:nvPicPr>
            <p:blipFill>
              <a:blip r:embed="rId4"/>
              <a:stretch>
                <a:fillRect/>
              </a:stretch>
            </p:blipFill>
            <p:spPr>
              <a:xfrm>
                <a:off x="6336162" y="22348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8" name="Ink 27">
                <a:extLst>
                  <a:ext uri="{FF2B5EF4-FFF2-40B4-BE49-F238E27FC236}">
                    <a16:creationId xmlns:a16="http://schemas.microsoft.com/office/drawing/2014/main" id="{6FF23526-658B-0D1B-1F5B-382F0E8C37BD}"/>
                  </a:ext>
                </a:extLst>
              </p14:cNvPr>
              <p14:cNvContentPartPr/>
              <p14:nvPr/>
            </p14:nvContentPartPr>
            <p14:xfrm>
              <a:off x="6347682" y="2395748"/>
              <a:ext cx="360" cy="360"/>
            </p14:xfrm>
          </p:contentPart>
        </mc:Choice>
        <mc:Fallback>
          <p:pic>
            <p:nvPicPr>
              <p:cNvPr id="28" name="Ink 27">
                <a:extLst>
                  <a:ext uri="{FF2B5EF4-FFF2-40B4-BE49-F238E27FC236}">
                    <a16:creationId xmlns:a16="http://schemas.microsoft.com/office/drawing/2014/main" id="{6FF23526-658B-0D1B-1F5B-382F0E8C37BD}"/>
                  </a:ext>
                </a:extLst>
              </p:cNvPr>
              <p:cNvPicPr/>
              <p:nvPr/>
            </p:nvPicPr>
            <p:blipFill>
              <a:blip r:embed="rId4"/>
              <a:stretch>
                <a:fillRect/>
              </a:stretch>
            </p:blipFill>
            <p:spPr>
              <a:xfrm>
                <a:off x="6330042" y="235974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29" name="Ink 28">
                <a:extLst>
                  <a:ext uri="{FF2B5EF4-FFF2-40B4-BE49-F238E27FC236}">
                    <a16:creationId xmlns:a16="http://schemas.microsoft.com/office/drawing/2014/main" id="{EBEFC6C9-7065-A74E-F3CF-A39ABBDC6BEA}"/>
                  </a:ext>
                </a:extLst>
              </p14:cNvPr>
              <p14:cNvContentPartPr/>
              <p14:nvPr/>
            </p14:nvContentPartPr>
            <p14:xfrm>
              <a:off x="6352722" y="2533628"/>
              <a:ext cx="360" cy="360"/>
            </p14:xfrm>
          </p:contentPart>
        </mc:Choice>
        <mc:Fallback>
          <p:pic>
            <p:nvPicPr>
              <p:cNvPr id="29" name="Ink 28">
                <a:extLst>
                  <a:ext uri="{FF2B5EF4-FFF2-40B4-BE49-F238E27FC236}">
                    <a16:creationId xmlns:a16="http://schemas.microsoft.com/office/drawing/2014/main" id="{EBEFC6C9-7065-A74E-F3CF-A39ABBDC6BEA}"/>
                  </a:ext>
                </a:extLst>
              </p:cNvPr>
              <p:cNvPicPr/>
              <p:nvPr/>
            </p:nvPicPr>
            <p:blipFill>
              <a:blip r:embed="rId4"/>
              <a:stretch>
                <a:fillRect/>
              </a:stretch>
            </p:blipFill>
            <p:spPr>
              <a:xfrm>
                <a:off x="6334722" y="24976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0" name="Ink 29">
                <a:extLst>
                  <a:ext uri="{FF2B5EF4-FFF2-40B4-BE49-F238E27FC236}">
                    <a16:creationId xmlns:a16="http://schemas.microsoft.com/office/drawing/2014/main" id="{CD9C8D78-46E1-7F2E-F883-C72AF368C49B}"/>
                  </a:ext>
                </a:extLst>
              </p14:cNvPr>
              <p14:cNvContentPartPr/>
              <p14:nvPr/>
            </p14:nvContentPartPr>
            <p14:xfrm>
              <a:off x="6352002" y="2659628"/>
              <a:ext cx="360" cy="360"/>
            </p14:xfrm>
          </p:contentPart>
        </mc:Choice>
        <mc:Fallback>
          <p:pic>
            <p:nvPicPr>
              <p:cNvPr id="30" name="Ink 29">
                <a:extLst>
                  <a:ext uri="{FF2B5EF4-FFF2-40B4-BE49-F238E27FC236}">
                    <a16:creationId xmlns:a16="http://schemas.microsoft.com/office/drawing/2014/main" id="{CD9C8D78-46E1-7F2E-F883-C72AF368C49B}"/>
                  </a:ext>
                </a:extLst>
              </p:cNvPr>
              <p:cNvPicPr/>
              <p:nvPr/>
            </p:nvPicPr>
            <p:blipFill>
              <a:blip r:embed="rId4"/>
              <a:stretch>
                <a:fillRect/>
              </a:stretch>
            </p:blipFill>
            <p:spPr>
              <a:xfrm>
                <a:off x="6334362" y="26236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1" name="Ink 30">
                <a:extLst>
                  <a:ext uri="{FF2B5EF4-FFF2-40B4-BE49-F238E27FC236}">
                    <a16:creationId xmlns:a16="http://schemas.microsoft.com/office/drawing/2014/main" id="{2A143AC5-7150-C407-CCB0-9B480C3AC527}"/>
                  </a:ext>
                </a:extLst>
              </p14:cNvPr>
              <p14:cNvContentPartPr/>
              <p14:nvPr/>
            </p14:nvContentPartPr>
            <p14:xfrm>
              <a:off x="6349842" y="2797508"/>
              <a:ext cx="6480" cy="24480"/>
            </p14:xfrm>
          </p:contentPart>
        </mc:Choice>
        <mc:Fallback>
          <p:pic>
            <p:nvPicPr>
              <p:cNvPr id="31" name="Ink 30">
                <a:extLst>
                  <a:ext uri="{FF2B5EF4-FFF2-40B4-BE49-F238E27FC236}">
                    <a16:creationId xmlns:a16="http://schemas.microsoft.com/office/drawing/2014/main" id="{2A143AC5-7150-C407-CCB0-9B480C3AC527}"/>
                  </a:ext>
                </a:extLst>
              </p:cNvPr>
              <p:cNvPicPr/>
              <p:nvPr/>
            </p:nvPicPr>
            <p:blipFill>
              <a:blip r:embed="rId14"/>
              <a:stretch>
                <a:fillRect/>
              </a:stretch>
            </p:blipFill>
            <p:spPr>
              <a:xfrm>
                <a:off x="6331842" y="2761868"/>
                <a:ext cx="4212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2" name="Ink 31">
                <a:extLst>
                  <a:ext uri="{FF2B5EF4-FFF2-40B4-BE49-F238E27FC236}">
                    <a16:creationId xmlns:a16="http://schemas.microsoft.com/office/drawing/2014/main" id="{31E818B4-BA85-98FF-1513-E2DA10DD08B2}"/>
                  </a:ext>
                </a:extLst>
              </p14:cNvPr>
              <p14:cNvContentPartPr/>
              <p14:nvPr/>
            </p14:nvContentPartPr>
            <p14:xfrm>
              <a:off x="6353442" y="2915228"/>
              <a:ext cx="360" cy="360"/>
            </p14:xfrm>
          </p:contentPart>
        </mc:Choice>
        <mc:Fallback>
          <p:pic>
            <p:nvPicPr>
              <p:cNvPr id="32" name="Ink 31">
                <a:extLst>
                  <a:ext uri="{FF2B5EF4-FFF2-40B4-BE49-F238E27FC236}">
                    <a16:creationId xmlns:a16="http://schemas.microsoft.com/office/drawing/2014/main" id="{31E818B4-BA85-98FF-1513-E2DA10DD08B2}"/>
                  </a:ext>
                </a:extLst>
              </p:cNvPr>
              <p:cNvPicPr/>
              <p:nvPr/>
            </p:nvPicPr>
            <p:blipFill>
              <a:blip r:embed="rId4"/>
              <a:stretch>
                <a:fillRect/>
              </a:stretch>
            </p:blipFill>
            <p:spPr>
              <a:xfrm>
                <a:off x="6335802" y="28792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3" name="Ink 32">
                <a:extLst>
                  <a:ext uri="{FF2B5EF4-FFF2-40B4-BE49-F238E27FC236}">
                    <a16:creationId xmlns:a16="http://schemas.microsoft.com/office/drawing/2014/main" id="{B060148A-4003-0B3B-D2C2-9040FF6E0EA1}"/>
                  </a:ext>
                </a:extLst>
              </p14:cNvPr>
              <p14:cNvContentPartPr/>
              <p14:nvPr/>
            </p14:nvContentPartPr>
            <p14:xfrm>
              <a:off x="6354162" y="3053468"/>
              <a:ext cx="360" cy="360"/>
            </p14:xfrm>
          </p:contentPart>
        </mc:Choice>
        <mc:Fallback>
          <p:pic>
            <p:nvPicPr>
              <p:cNvPr id="33" name="Ink 32">
                <a:extLst>
                  <a:ext uri="{FF2B5EF4-FFF2-40B4-BE49-F238E27FC236}">
                    <a16:creationId xmlns:a16="http://schemas.microsoft.com/office/drawing/2014/main" id="{B060148A-4003-0B3B-D2C2-9040FF6E0EA1}"/>
                  </a:ext>
                </a:extLst>
              </p:cNvPr>
              <p:cNvPicPr/>
              <p:nvPr/>
            </p:nvPicPr>
            <p:blipFill>
              <a:blip r:embed="rId4"/>
              <a:stretch>
                <a:fillRect/>
              </a:stretch>
            </p:blipFill>
            <p:spPr>
              <a:xfrm>
                <a:off x="6336522" y="30178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4" name="Ink 33">
                <a:extLst>
                  <a:ext uri="{FF2B5EF4-FFF2-40B4-BE49-F238E27FC236}">
                    <a16:creationId xmlns:a16="http://schemas.microsoft.com/office/drawing/2014/main" id="{12A30CC3-8FAA-EBA1-B2FC-AD141F67C53F}"/>
                  </a:ext>
                </a:extLst>
              </p14:cNvPr>
              <p14:cNvContentPartPr/>
              <p14:nvPr/>
            </p14:nvContentPartPr>
            <p14:xfrm>
              <a:off x="6353802" y="3317708"/>
              <a:ext cx="360" cy="360"/>
            </p14:xfrm>
          </p:contentPart>
        </mc:Choice>
        <mc:Fallback>
          <p:pic>
            <p:nvPicPr>
              <p:cNvPr id="34" name="Ink 33">
                <a:extLst>
                  <a:ext uri="{FF2B5EF4-FFF2-40B4-BE49-F238E27FC236}">
                    <a16:creationId xmlns:a16="http://schemas.microsoft.com/office/drawing/2014/main" id="{12A30CC3-8FAA-EBA1-B2FC-AD141F67C53F}"/>
                  </a:ext>
                </a:extLst>
              </p:cNvPr>
              <p:cNvPicPr/>
              <p:nvPr/>
            </p:nvPicPr>
            <p:blipFill>
              <a:blip r:embed="rId4"/>
              <a:stretch>
                <a:fillRect/>
              </a:stretch>
            </p:blipFill>
            <p:spPr>
              <a:xfrm>
                <a:off x="6335802" y="328206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5" name="Ink 34">
                <a:extLst>
                  <a:ext uri="{FF2B5EF4-FFF2-40B4-BE49-F238E27FC236}">
                    <a16:creationId xmlns:a16="http://schemas.microsoft.com/office/drawing/2014/main" id="{1AA102BA-59A7-BB0F-BB90-02DBC014F1D5}"/>
                  </a:ext>
                </a:extLst>
              </p14:cNvPr>
              <p14:cNvContentPartPr/>
              <p14:nvPr/>
            </p14:nvContentPartPr>
            <p14:xfrm>
              <a:off x="6355242" y="3445508"/>
              <a:ext cx="360" cy="360"/>
            </p14:xfrm>
          </p:contentPart>
        </mc:Choice>
        <mc:Fallback>
          <p:pic>
            <p:nvPicPr>
              <p:cNvPr id="35" name="Ink 34">
                <a:extLst>
                  <a:ext uri="{FF2B5EF4-FFF2-40B4-BE49-F238E27FC236}">
                    <a16:creationId xmlns:a16="http://schemas.microsoft.com/office/drawing/2014/main" id="{1AA102BA-59A7-BB0F-BB90-02DBC014F1D5}"/>
                  </a:ext>
                </a:extLst>
              </p:cNvPr>
              <p:cNvPicPr/>
              <p:nvPr/>
            </p:nvPicPr>
            <p:blipFill>
              <a:blip r:embed="rId4"/>
              <a:stretch>
                <a:fillRect/>
              </a:stretch>
            </p:blipFill>
            <p:spPr>
              <a:xfrm>
                <a:off x="6337602" y="340986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6" name="Ink 35">
                <a:extLst>
                  <a:ext uri="{FF2B5EF4-FFF2-40B4-BE49-F238E27FC236}">
                    <a16:creationId xmlns:a16="http://schemas.microsoft.com/office/drawing/2014/main" id="{504AA0BA-89E3-2425-57F6-71379A0CB5A8}"/>
                  </a:ext>
                </a:extLst>
              </p14:cNvPr>
              <p14:cNvContentPartPr/>
              <p14:nvPr/>
            </p14:nvContentPartPr>
            <p14:xfrm>
              <a:off x="6350562" y="3589868"/>
              <a:ext cx="360" cy="360"/>
            </p14:xfrm>
          </p:contentPart>
        </mc:Choice>
        <mc:Fallback>
          <p:pic>
            <p:nvPicPr>
              <p:cNvPr id="36" name="Ink 35">
                <a:extLst>
                  <a:ext uri="{FF2B5EF4-FFF2-40B4-BE49-F238E27FC236}">
                    <a16:creationId xmlns:a16="http://schemas.microsoft.com/office/drawing/2014/main" id="{504AA0BA-89E3-2425-57F6-71379A0CB5A8}"/>
                  </a:ext>
                </a:extLst>
              </p:cNvPr>
              <p:cNvPicPr/>
              <p:nvPr/>
            </p:nvPicPr>
            <p:blipFill>
              <a:blip r:embed="rId4"/>
              <a:stretch>
                <a:fillRect/>
              </a:stretch>
            </p:blipFill>
            <p:spPr>
              <a:xfrm>
                <a:off x="6332562" y="355386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7" name="Ink 36">
                <a:extLst>
                  <a:ext uri="{FF2B5EF4-FFF2-40B4-BE49-F238E27FC236}">
                    <a16:creationId xmlns:a16="http://schemas.microsoft.com/office/drawing/2014/main" id="{125B5F4A-C65F-CFC6-3628-24941130F452}"/>
                  </a:ext>
                </a:extLst>
              </p14:cNvPr>
              <p14:cNvContentPartPr/>
              <p14:nvPr/>
            </p14:nvContentPartPr>
            <p14:xfrm>
              <a:off x="6350202" y="3852308"/>
              <a:ext cx="360" cy="360"/>
            </p14:xfrm>
          </p:contentPart>
        </mc:Choice>
        <mc:Fallback>
          <p:pic>
            <p:nvPicPr>
              <p:cNvPr id="37" name="Ink 36">
                <a:extLst>
                  <a:ext uri="{FF2B5EF4-FFF2-40B4-BE49-F238E27FC236}">
                    <a16:creationId xmlns:a16="http://schemas.microsoft.com/office/drawing/2014/main" id="{125B5F4A-C65F-CFC6-3628-24941130F452}"/>
                  </a:ext>
                </a:extLst>
              </p:cNvPr>
              <p:cNvPicPr/>
              <p:nvPr/>
            </p:nvPicPr>
            <p:blipFill>
              <a:blip r:embed="rId4"/>
              <a:stretch>
                <a:fillRect/>
              </a:stretch>
            </p:blipFill>
            <p:spPr>
              <a:xfrm>
                <a:off x="6332202" y="381666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38" name="Ink 37">
                <a:extLst>
                  <a:ext uri="{FF2B5EF4-FFF2-40B4-BE49-F238E27FC236}">
                    <a16:creationId xmlns:a16="http://schemas.microsoft.com/office/drawing/2014/main" id="{B96E5938-5DC7-220C-EB26-BE5F15DE0B1D}"/>
                  </a:ext>
                </a:extLst>
              </p14:cNvPr>
              <p14:cNvContentPartPr/>
              <p14:nvPr/>
            </p14:nvContentPartPr>
            <p14:xfrm>
              <a:off x="6348042" y="3966428"/>
              <a:ext cx="360" cy="360"/>
            </p14:xfrm>
          </p:contentPart>
        </mc:Choice>
        <mc:Fallback>
          <p:pic>
            <p:nvPicPr>
              <p:cNvPr id="38" name="Ink 37">
                <a:extLst>
                  <a:ext uri="{FF2B5EF4-FFF2-40B4-BE49-F238E27FC236}">
                    <a16:creationId xmlns:a16="http://schemas.microsoft.com/office/drawing/2014/main" id="{B96E5938-5DC7-220C-EB26-BE5F15DE0B1D}"/>
                  </a:ext>
                </a:extLst>
              </p:cNvPr>
              <p:cNvPicPr/>
              <p:nvPr/>
            </p:nvPicPr>
            <p:blipFill>
              <a:blip r:embed="rId4"/>
              <a:stretch>
                <a:fillRect/>
              </a:stretch>
            </p:blipFill>
            <p:spPr>
              <a:xfrm>
                <a:off x="6330042" y="3930428"/>
                <a:ext cx="3600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9" name="Ink 38">
                <a:extLst>
                  <a:ext uri="{FF2B5EF4-FFF2-40B4-BE49-F238E27FC236}">
                    <a16:creationId xmlns:a16="http://schemas.microsoft.com/office/drawing/2014/main" id="{9827841C-8719-C85F-EE3B-742763820395}"/>
                  </a:ext>
                </a:extLst>
              </p14:cNvPr>
              <p14:cNvContentPartPr/>
              <p14:nvPr/>
            </p14:nvContentPartPr>
            <p14:xfrm>
              <a:off x="6343722" y="4099988"/>
              <a:ext cx="360" cy="360"/>
            </p14:xfrm>
          </p:contentPart>
        </mc:Choice>
        <mc:Fallback>
          <p:pic>
            <p:nvPicPr>
              <p:cNvPr id="39" name="Ink 38">
                <a:extLst>
                  <a:ext uri="{FF2B5EF4-FFF2-40B4-BE49-F238E27FC236}">
                    <a16:creationId xmlns:a16="http://schemas.microsoft.com/office/drawing/2014/main" id="{9827841C-8719-C85F-EE3B-742763820395}"/>
                  </a:ext>
                </a:extLst>
              </p:cNvPr>
              <p:cNvPicPr/>
              <p:nvPr/>
            </p:nvPicPr>
            <p:blipFill>
              <a:blip r:embed="rId4"/>
              <a:stretch>
                <a:fillRect/>
              </a:stretch>
            </p:blipFill>
            <p:spPr>
              <a:xfrm>
                <a:off x="6325722" y="4064348"/>
                <a:ext cx="36000" cy="72000"/>
              </a:xfrm>
              <a:prstGeom prst="rect">
                <a:avLst/>
              </a:prstGeom>
            </p:spPr>
          </p:pic>
        </mc:Fallback>
      </mc:AlternateContent>
    </p:spTree>
    <p:extLst>
      <p:ext uri="{BB962C8B-B14F-4D97-AF65-F5344CB8AC3E}">
        <p14:creationId xmlns:p14="http://schemas.microsoft.com/office/powerpoint/2010/main" val="19481485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1E2B8B-643D-DEEC-3BC6-B948F8A7CF6F}"/>
              </a:ext>
            </a:extLst>
          </p:cNvPr>
          <p:cNvPicPr>
            <a:picLocks noChangeAspect="1"/>
          </p:cNvPicPr>
          <p:nvPr/>
        </p:nvPicPr>
        <p:blipFill>
          <a:blip r:embed="rId2"/>
          <a:stretch>
            <a:fillRect/>
          </a:stretch>
        </p:blipFill>
        <p:spPr>
          <a:xfrm>
            <a:off x="1497496" y="582364"/>
            <a:ext cx="3074504" cy="3978770"/>
          </a:xfrm>
          <a:prstGeom prst="rect">
            <a:avLst/>
          </a:prstGeom>
        </p:spPr>
      </p:pic>
      <p:pic>
        <p:nvPicPr>
          <p:cNvPr id="5" name="Picture 4">
            <a:extLst>
              <a:ext uri="{FF2B5EF4-FFF2-40B4-BE49-F238E27FC236}">
                <a16:creationId xmlns:a16="http://schemas.microsoft.com/office/drawing/2014/main" id="{271730E0-8912-34FC-1ECE-FC085F8A7B24}"/>
              </a:ext>
            </a:extLst>
          </p:cNvPr>
          <p:cNvPicPr>
            <a:picLocks noChangeAspect="1"/>
          </p:cNvPicPr>
          <p:nvPr/>
        </p:nvPicPr>
        <p:blipFill>
          <a:blip r:embed="rId3"/>
          <a:srcRect l="10155" t="20741" r="6155" b="20644"/>
          <a:stretch>
            <a:fillRect/>
          </a:stretch>
        </p:blipFill>
        <p:spPr>
          <a:xfrm>
            <a:off x="4572000" y="1064314"/>
            <a:ext cx="3326297" cy="3014871"/>
          </a:xfrm>
          <a:prstGeom prst="rect">
            <a:avLst/>
          </a:prstGeom>
        </p:spPr>
      </p:pic>
    </p:spTree>
    <p:extLst>
      <p:ext uri="{BB962C8B-B14F-4D97-AF65-F5344CB8AC3E}">
        <p14:creationId xmlns:p14="http://schemas.microsoft.com/office/powerpoint/2010/main" val="20996287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FEA8FA2-6727-DFE9-32EA-74815C300FCE}"/>
              </a:ext>
            </a:extLst>
          </p:cNvPr>
          <p:cNvSpPr>
            <a:spLocks noGrp="1"/>
          </p:cNvSpPr>
          <p:nvPr>
            <p:ph type="body" idx="1"/>
          </p:nvPr>
        </p:nvSpPr>
        <p:spPr>
          <a:xfrm>
            <a:off x="1561552" y="4037679"/>
            <a:ext cx="6020896" cy="605100"/>
          </a:xfrm>
        </p:spPr>
        <p:txBody>
          <a:bodyPr/>
          <a:lstStyle/>
          <a:p>
            <a:pPr marL="6350" indent="0" algn="ctr"/>
            <a:r>
              <a:rPr lang="en-US" dirty="0"/>
              <a:t>No information gain at ~24 </a:t>
            </a:r>
            <a:r>
              <a:rPr lang="en-US" dirty="0" err="1"/>
              <a:t>mos</a:t>
            </a:r>
            <a:r>
              <a:rPr lang="en-US" dirty="0"/>
              <a:t> for Providence College</a:t>
            </a:r>
          </a:p>
        </p:txBody>
      </p:sp>
      <p:pic>
        <p:nvPicPr>
          <p:cNvPr id="5" name="Picture 4">
            <a:extLst>
              <a:ext uri="{FF2B5EF4-FFF2-40B4-BE49-F238E27FC236}">
                <a16:creationId xmlns:a16="http://schemas.microsoft.com/office/drawing/2014/main" id="{B9882972-A4E1-72E9-C4BC-173CDD2DB736}"/>
              </a:ext>
            </a:extLst>
          </p:cNvPr>
          <p:cNvPicPr>
            <a:picLocks noChangeAspect="1"/>
          </p:cNvPicPr>
          <p:nvPr/>
        </p:nvPicPr>
        <p:blipFill>
          <a:blip r:embed="rId2"/>
          <a:stretch>
            <a:fillRect/>
          </a:stretch>
        </p:blipFill>
        <p:spPr>
          <a:xfrm>
            <a:off x="4519540" y="192891"/>
            <a:ext cx="3844787" cy="3844787"/>
          </a:xfrm>
          <a:prstGeom prst="rect">
            <a:avLst/>
          </a:prstGeom>
        </p:spPr>
      </p:pic>
      <p:pic>
        <p:nvPicPr>
          <p:cNvPr id="6" name="Picture 5">
            <a:extLst>
              <a:ext uri="{FF2B5EF4-FFF2-40B4-BE49-F238E27FC236}">
                <a16:creationId xmlns:a16="http://schemas.microsoft.com/office/drawing/2014/main" id="{9543F8F5-C788-0A53-4B2D-A83F29235FC6}"/>
              </a:ext>
            </a:extLst>
          </p:cNvPr>
          <p:cNvPicPr>
            <a:picLocks noChangeAspect="1"/>
          </p:cNvPicPr>
          <p:nvPr/>
        </p:nvPicPr>
        <p:blipFill>
          <a:blip r:embed="rId3"/>
          <a:stretch>
            <a:fillRect/>
          </a:stretch>
        </p:blipFill>
        <p:spPr>
          <a:xfrm>
            <a:off x="1601028" y="192891"/>
            <a:ext cx="2970972" cy="3844787"/>
          </a:xfrm>
          <a:prstGeom prst="rect">
            <a:avLst/>
          </a:prstGeom>
        </p:spPr>
      </p:pic>
    </p:spTree>
    <p:extLst>
      <p:ext uri="{BB962C8B-B14F-4D97-AF65-F5344CB8AC3E}">
        <p14:creationId xmlns:p14="http://schemas.microsoft.com/office/powerpoint/2010/main" val="1881626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48319-53D7-9532-C1DD-25BEBEAF09AD}"/>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3C40C6F-1A14-0A6F-62D5-5C496DB980B9}"/>
              </a:ext>
            </a:extLst>
          </p:cNvPr>
          <p:cNvSpPr>
            <a:spLocks noGrp="1"/>
          </p:cNvSpPr>
          <p:nvPr>
            <p:ph type="body" idx="1"/>
          </p:nvPr>
        </p:nvSpPr>
        <p:spPr>
          <a:xfrm>
            <a:off x="1561552" y="4037679"/>
            <a:ext cx="6020896" cy="605100"/>
          </a:xfrm>
        </p:spPr>
        <p:txBody>
          <a:bodyPr/>
          <a:lstStyle/>
          <a:p>
            <a:pPr marL="6350" indent="0" algn="ctr"/>
            <a:r>
              <a:rPr lang="en-US" dirty="0"/>
              <a:t>No information gain at ~24 </a:t>
            </a:r>
            <a:r>
              <a:rPr lang="en-US" dirty="0" err="1"/>
              <a:t>mos</a:t>
            </a:r>
            <a:r>
              <a:rPr lang="en-US" dirty="0"/>
              <a:t> for Providence College</a:t>
            </a:r>
          </a:p>
        </p:txBody>
      </p:sp>
      <p:pic>
        <p:nvPicPr>
          <p:cNvPr id="5" name="Picture 4">
            <a:extLst>
              <a:ext uri="{FF2B5EF4-FFF2-40B4-BE49-F238E27FC236}">
                <a16:creationId xmlns:a16="http://schemas.microsoft.com/office/drawing/2014/main" id="{5EA6E75C-5438-0D60-3E96-44B32CD90BA1}"/>
              </a:ext>
            </a:extLst>
          </p:cNvPr>
          <p:cNvPicPr>
            <a:picLocks noChangeAspect="1"/>
          </p:cNvPicPr>
          <p:nvPr/>
        </p:nvPicPr>
        <p:blipFill>
          <a:blip r:embed="rId2"/>
          <a:stretch>
            <a:fillRect/>
          </a:stretch>
        </p:blipFill>
        <p:spPr>
          <a:xfrm>
            <a:off x="4519540" y="192891"/>
            <a:ext cx="3844787" cy="3844787"/>
          </a:xfrm>
          <a:prstGeom prst="rect">
            <a:avLst/>
          </a:prstGeom>
        </p:spPr>
      </p:pic>
      <p:pic>
        <p:nvPicPr>
          <p:cNvPr id="6" name="Picture 5">
            <a:extLst>
              <a:ext uri="{FF2B5EF4-FFF2-40B4-BE49-F238E27FC236}">
                <a16:creationId xmlns:a16="http://schemas.microsoft.com/office/drawing/2014/main" id="{593CB7CD-579A-6515-9EA9-B419DDF1802D}"/>
              </a:ext>
            </a:extLst>
          </p:cNvPr>
          <p:cNvPicPr>
            <a:picLocks noChangeAspect="1"/>
          </p:cNvPicPr>
          <p:nvPr/>
        </p:nvPicPr>
        <p:blipFill>
          <a:blip r:embed="rId3"/>
          <a:stretch>
            <a:fillRect/>
          </a:stretch>
        </p:blipFill>
        <p:spPr>
          <a:xfrm>
            <a:off x="1601028" y="192891"/>
            <a:ext cx="2970972" cy="3844787"/>
          </a:xfrm>
          <a:prstGeom prst="rect">
            <a:avLst/>
          </a:prstGeom>
        </p:spPr>
      </p:pic>
    </p:spTree>
    <p:extLst>
      <p:ext uri="{BB962C8B-B14F-4D97-AF65-F5344CB8AC3E}">
        <p14:creationId xmlns:p14="http://schemas.microsoft.com/office/powerpoint/2010/main" val="1030470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F61F13-B83E-3273-8A69-E0904EC155C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0326388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1050</Words>
  <Application>Microsoft Macintosh PowerPoint</Application>
  <PresentationFormat>On-screen Show (16:9)</PresentationFormat>
  <Paragraphs>63</Paragraphs>
  <Slides>22</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Wingdings</vt:lpstr>
      <vt:lpstr>Simple Light</vt:lpstr>
      <vt:lpstr>Experiment Framework  (Assumes background on BPP network)</vt:lpstr>
      <vt:lpstr>Winter et. al. Drift Characterization Framework</vt:lpstr>
      <vt:lpstr>Breathe Providence Network Constraints</vt:lpstr>
      <vt:lpstr>Methods</vt:lpstr>
      <vt:lpstr>Methods: Quantifying Drift</vt:lpstr>
      <vt:lpstr>Myron as Control Experiment</vt:lpstr>
      <vt:lpstr>Myron BEACO2N vs. RIDEM: No meteorological filtering</vt:lpstr>
      <vt:lpstr>Myron BEACO2N vs. RIDEM: No meteorological filtering</vt:lpstr>
      <vt:lpstr>Myron BEACO2N vs. Self at Year 1: No met. filtering</vt:lpstr>
      <vt:lpstr>Observations</vt:lpstr>
      <vt:lpstr>Myron BEACO2N vs. RIDEM: with met. filtering</vt:lpstr>
      <vt:lpstr>Myron BEACO2N vs. RIDEM: with met. filtering</vt:lpstr>
      <vt:lpstr>Myron BEACO2N vs. RIDEM: with met. filtering</vt:lpstr>
      <vt:lpstr>Observations</vt:lpstr>
      <vt:lpstr>Myron BEACO2N vs. Self at year 1: with met. filtering</vt:lpstr>
      <vt:lpstr>Myron BEACO2N vs. Self at year 1: with met. filtering</vt:lpstr>
      <vt:lpstr>Observations</vt:lpstr>
      <vt:lpstr>Issues with Generalizing this Method:</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Woodilla, Mike</cp:lastModifiedBy>
  <cp:revision>2</cp:revision>
  <dcterms:modified xsi:type="dcterms:W3CDTF">2025-07-22T14:56:26Z</dcterms:modified>
</cp:coreProperties>
</file>